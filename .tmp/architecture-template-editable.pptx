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02713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4878" y="45129"/>
            <a:ext cx="1263638" cy="2030848"/>
          </a:xfrm>
          <a:prstGeom prst="rect">
            <a:avLst/>
          </a:prstGeom>
          <a:solidFill>
            <a:srgbClr val="E9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4878" y="45129"/>
            <a:ext cx="64008" cy="2030848"/>
          </a:xfrm>
          <a:prstGeom prst="rect">
            <a:avLst/>
          </a:prstGeom>
          <a:solidFill>
            <a:srgbClr val="20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878" y="2228291"/>
            <a:ext cx="1263638" cy="575407"/>
          </a:xfrm>
          <a:prstGeom prst="rect">
            <a:avLst/>
          </a:prstGeom>
          <a:solidFill>
            <a:srgbClr val="E9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878" y="2228291"/>
            <a:ext cx="64008" cy="575407"/>
          </a:xfrm>
          <a:prstGeom prst="rect">
            <a:avLst/>
          </a:prstGeom>
          <a:solidFill>
            <a:srgbClr val="20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878" y="2967295"/>
            <a:ext cx="1263638" cy="1314410"/>
          </a:xfrm>
          <a:prstGeom prst="rect">
            <a:avLst/>
          </a:prstGeom>
          <a:solidFill>
            <a:srgbClr val="E9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4878" y="2967295"/>
            <a:ext cx="64008" cy="1314410"/>
          </a:xfrm>
          <a:prstGeom prst="rect">
            <a:avLst/>
          </a:prstGeom>
          <a:solidFill>
            <a:srgbClr val="20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4878" y="4518637"/>
            <a:ext cx="1263638" cy="1427235"/>
          </a:xfrm>
          <a:prstGeom prst="rect">
            <a:avLst/>
          </a:prstGeom>
          <a:solidFill>
            <a:srgbClr val="E9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4878" y="4518637"/>
            <a:ext cx="64008" cy="1427235"/>
          </a:xfrm>
          <a:prstGeom prst="rect">
            <a:avLst/>
          </a:prstGeom>
          <a:solidFill>
            <a:srgbClr val="20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2373" y="39488"/>
            <a:ext cx="1500571" cy="2081619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18023" y="394887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18023" y="817980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18023" y="1241073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18023" y="1669808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73464" y="39488"/>
            <a:ext cx="1489288" cy="2081619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99114" y="394887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99114" y="817980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99114" y="1241073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99114" y="1669808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8914" y="39488"/>
            <a:ext cx="1483647" cy="2081619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74564" y="394887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74564" y="817980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74564" y="1241073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74564" y="1669808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13081" y="39488"/>
            <a:ext cx="1494930" cy="2081619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38731" y="394887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38731" y="817980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38731" y="1241073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38731" y="1669808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0836" y="39488"/>
            <a:ext cx="1562624" cy="2081619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46486" y="394887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46486" y="817980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46486" y="1241073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46486" y="1669808"/>
            <a:ext cx="1015424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30134" y="39488"/>
            <a:ext cx="1455441" cy="2081619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55783" y="394887"/>
            <a:ext cx="1004141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255783" y="817980"/>
            <a:ext cx="1004141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55783" y="1241073"/>
            <a:ext cx="1004141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255783" y="1669808"/>
            <a:ext cx="1004141" cy="3497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92373" y="2228291"/>
            <a:ext cx="9787560" cy="648743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912382" y="2335475"/>
            <a:ext cx="1698014" cy="4174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892459" y="2335475"/>
            <a:ext cx="1698014" cy="4174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27406" y="2335475"/>
            <a:ext cx="1698014" cy="4174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17223" y="2335475"/>
            <a:ext cx="1698014" cy="4174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18323" y="2335475"/>
            <a:ext cx="1698014" cy="4174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92373" y="2967295"/>
            <a:ext cx="9787560" cy="1393387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912382" y="3745786"/>
            <a:ext cx="1184661" cy="39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226792" y="3745786"/>
            <a:ext cx="1184661" cy="39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03256" y="3745786"/>
            <a:ext cx="1184661" cy="39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502856" y="3745786"/>
            <a:ext cx="1184661" cy="39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783418" y="3745786"/>
            <a:ext cx="1184661" cy="39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097829" y="3745786"/>
            <a:ext cx="1184661" cy="39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an 52"/>
          <p:cNvSpPr/>
          <p:nvPr/>
        </p:nvSpPr>
        <p:spPr>
          <a:xfrm>
            <a:off x="6002285" y="3125249"/>
            <a:ext cx="1184661" cy="1015424"/>
          </a:xfrm>
          <a:prstGeom prst="can">
            <a:avLst/>
          </a:prstGeom>
          <a:solidFill>
            <a:srgbClr val="DDE4FF"/>
          </a:solidFill>
          <a:ln w="12700">
            <a:solidFill>
              <a:srgbClr val="CBD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92373" y="4524278"/>
            <a:ext cx="9787560" cy="609254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92373" y="5246358"/>
            <a:ext cx="9787560" cy="693873"/>
          </a:xfrm>
          <a:prstGeom prst="rect">
            <a:avLst/>
          </a:prstGeom>
          <a:solidFill>
            <a:srgbClr val="F3F7FF"/>
          </a:solidFill>
          <a:ln w="11430">
            <a:solidFill>
              <a:srgbClr val="CBD9E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912382" y="4625821"/>
            <a:ext cx="1382105" cy="389245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424235" y="4625821"/>
            <a:ext cx="1382105" cy="389245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026349" y="4625821"/>
            <a:ext cx="1382105" cy="389245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56669" y="4625821"/>
            <a:ext cx="1382105" cy="389245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47500" y="4625821"/>
            <a:ext cx="1382105" cy="389245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934232" y="4625821"/>
            <a:ext cx="1382105" cy="389245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867252" y="5359183"/>
            <a:ext cx="1382105" cy="451299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424235" y="5359183"/>
            <a:ext cx="1382105" cy="451299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026349" y="5359183"/>
            <a:ext cx="1382105" cy="451299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656669" y="5359183"/>
            <a:ext cx="1382105" cy="451299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247500" y="5359183"/>
            <a:ext cx="1382105" cy="451299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934232" y="5359183"/>
            <a:ext cx="1382105" cy="451299"/>
          </a:xfrm>
          <a:prstGeom prst="roundRect">
            <a:avLst/>
          </a:prstGeom>
          <a:solidFill>
            <a:srgbClr val="E9EDF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2572407" y="4434018"/>
            <a:ext cx="0" cy="191803"/>
          </a:xfrm>
          <a:prstGeom prst="line">
            <a:avLst/>
          </a:prstGeom>
          <a:ln w="13970">
            <a:solidFill>
              <a:srgbClr val="B9C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18109" y="4434018"/>
            <a:ext cx="0" cy="191803"/>
          </a:xfrm>
          <a:prstGeom prst="line">
            <a:avLst/>
          </a:prstGeom>
          <a:ln w="13970">
            <a:solidFill>
              <a:srgbClr val="B9C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686375" y="4434018"/>
            <a:ext cx="0" cy="191803"/>
          </a:xfrm>
          <a:prstGeom prst="line">
            <a:avLst/>
          </a:prstGeom>
          <a:ln w="13970">
            <a:solidFill>
              <a:srgbClr val="B9C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249000" y="4434018"/>
            <a:ext cx="0" cy="191803"/>
          </a:xfrm>
          <a:prstGeom prst="line">
            <a:avLst/>
          </a:prstGeom>
          <a:ln w="13970">
            <a:solidFill>
              <a:srgbClr val="B9C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941373" y="4434018"/>
            <a:ext cx="0" cy="191803"/>
          </a:xfrm>
          <a:prstGeom prst="line">
            <a:avLst/>
          </a:prstGeom>
          <a:ln w="13970">
            <a:solidFill>
              <a:srgbClr val="B9C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605541" y="4434018"/>
            <a:ext cx="0" cy="191803"/>
          </a:xfrm>
          <a:prstGeom prst="line">
            <a:avLst/>
          </a:prstGeom>
          <a:ln w="13970">
            <a:solidFill>
              <a:srgbClr val="B9C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673593" y="547200"/>
            <a:ext cx="727720" cy="1692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92" b="1">
                <a:solidFill>
                  <a:srgbClr val="55575A"/>
                </a:solidFill>
                <a:latin typeface="Microsoft YaHei"/>
              </a:rPr>
              <a:t>知识库问答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38331" y="547200"/>
            <a:ext cx="722079" cy="1692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92" b="1">
                <a:solidFill>
                  <a:srgbClr val="55575A"/>
                </a:solidFill>
                <a:latin typeface="Microsoft YaHei"/>
              </a:rPr>
              <a:t>语音小助理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5007" y="552842"/>
            <a:ext cx="863110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故障根因分析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54555" y="552842"/>
            <a:ext cx="857469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资产自动盘点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58783" y="552842"/>
            <a:ext cx="727720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互联网知识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01099" y="564124"/>
            <a:ext cx="851828" cy="146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47" b="1">
                <a:solidFill>
                  <a:srgbClr val="55575A"/>
                </a:solidFill>
                <a:latin typeface="Microsoft YaHei"/>
              </a:rPr>
              <a:t>运维数据分析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49885" y="896958"/>
            <a:ext cx="502070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搜索定位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7891" y="896958"/>
            <a:ext cx="710796" cy="135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55575A"/>
                </a:solidFill>
                <a:latin typeface="Microsoft YaHei"/>
              </a:rPr>
              <a:t>资产变化趋势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54684" y="896958"/>
            <a:ext cx="513353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文本处理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68080" y="902599"/>
            <a:ext cx="490788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自动朗读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63153" y="908240"/>
            <a:ext cx="705155" cy="135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55575A"/>
                </a:solidFill>
                <a:latin typeface="Microsoft YaHei"/>
              </a:rPr>
              <a:t>告警数据统计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62310" y="908240"/>
            <a:ext cx="722079" cy="135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55575A"/>
                </a:solidFill>
                <a:latin typeface="Microsoft YaHei"/>
              </a:rPr>
              <a:t>解决方案推荐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51028" y="1291845"/>
            <a:ext cx="733361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故障处理建议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22250" y="1297486"/>
            <a:ext cx="722079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资产关系分析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54684" y="1297486"/>
            <a:ext cx="507712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高效搜索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56797" y="1297486"/>
            <a:ext cx="496429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人声模拟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57512" y="1303127"/>
            <a:ext cx="722079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监控指标获取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44244" y="1303127"/>
            <a:ext cx="513353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指标关联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1559" y="1353898"/>
            <a:ext cx="513353" cy="174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9" b="1">
                <a:solidFill>
                  <a:srgbClr val="16A8C8"/>
                </a:solidFill>
                <a:latin typeface="Microsoft YaHei"/>
              </a:rPr>
              <a:t>应用层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51870" y="1698014"/>
            <a:ext cx="727720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监控类型统计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49885" y="1703656"/>
            <a:ext cx="502070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异常调用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89945" y="1703656"/>
            <a:ext cx="603613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合规性校验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60325" y="1703656"/>
            <a:ext cx="502070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语音交流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56669" y="1709297"/>
            <a:ext cx="722079" cy="1353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55575A"/>
                </a:solidFill>
                <a:latin typeface="Microsoft YaHei"/>
              </a:rPr>
              <a:t>运维知识检索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2582" y="2713438"/>
            <a:ext cx="682590" cy="2030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11" b="1">
                <a:solidFill>
                  <a:srgbClr val="16A8C8"/>
                </a:solidFill>
                <a:latin typeface="Microsoft YaHei"/>
              </a:rPr>
              <a:t>AI Agent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41116" y="2752927"/>
            <a:ext cx="586689" cy="180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65" b="1">
                <a:solidFill>
                  <a:srgbClr val="55575A"/>
                </a:solidFill>
                <a:latin typeface="Microsoft YaHei"/>
              </a:rPr>
              <a:t>监控Agent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23307" y="2758568"/>
            <a:ext cx="817980" cy="180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65" b="1">
                <a:solidFill>
                  <a:srgbClr val="55575A"/>
                </a:solidFill>
                <a:latin typeface="Microsoft YaHei"/>
              </a:rPr>
              <a:t>运维知识Agent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84918" y="2769851"/>
            <a:ext cx="693873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互联网Agent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30933" y="2775492"/>
            <a:ext cx="564124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资产Agent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33704" y="2775492"/>
            <a:ext cx="795415" cy="146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47" b="1">
                <a:solidFill>
                  <a:srgbClr val="55575A"/>
                </a:solidFill>
                <a:latin typeface="Microsoft YaHei"/>
              </a:rPr>
              <a:t>语音助手Agent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60853" y="3486289"/>
            <a:ext cx="654384" cy="1861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1" b="1">
                <a:solidFill>
                  <a:srgbClr val="55575A"/>
                </a:solidFill>
                <a:latin typeface="Microsoft YaHei"/>
              </a:rPr>
              <a:t>向量模型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249357" y="3497572"/>
            <a:ext cx="834904" cy="1692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92" b="1">
                <a:solidFill>
                  <a:srgbClr val="55575A"/>
                </a:solidFill>
                <a:latin typeface="Microsoft YaHei"/>
              </a:rPr>
              <a:t>通用大模型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53056" y="3740145"/>
            <a:ext cx="462582" cy="1918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38" b="1">
                <a:solidFill>
                  <a:srgbClr val="55575A"/>
                </a:solidFill>
                <a:latin typeface="Microsoft YaHei"/>
              </a:rPr>
              <a:t>训练集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8474" y="3773993"/>
            <a:ext cx="829263" cy="174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9" b="1">
                <a:solidFill>
                  <a:srgbClr val="16A8C8"/>
                </a:solidFill>
                <a:latin typeface="Microsoft YaHei"/>
              </a:rPr>
              <a:t>大模型底座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9460" y="3948871"/>
            <a:ext cx="733361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清洗、标注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2390" y="4095544"/>
            <a:ext cx="502070" cy="1579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55575A"/>
                </a:solidFill>
                <a:latin typeface="Microsoft YaHei"/>
              </a:rPr>
              <a:t>文本分段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4235" y="4095544"/>
            <a:ext cx="411810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QA拆分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82233" y="4095544"/>
            <a:ext cx="507712" cy="1579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55575A"/>
                </a:solidFill>
                <a:latin typeface="Microsoft YaHei"/>
              </a:rPr>
              <a:t>语义关联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18237" y="4095544"/>
            <a:ext cx="502070" cy="1579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55575A"/>
                </a:solidFill>
                <a:latin typeface="Microsoft YaHei"/>
              </a:rPr>
              <a:t>文本分段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93159" y="4095544"/>
            <a:ext cx="406169" cy="1635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6" b="1">
                <a:solidFill>
                  <a:srgbClr val="55575A"/>
                </a:solidFill>
                <a:latin typeface="Microsoft YaHei"/>
              </a:rPr>
              <a:t>QA拆分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27049" y="4095544"/>
            <a:ext cx="614895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文本向量化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233933" y="4919165"/>
            <a:ext cx="485147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监控平台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740145" y="4919165"/>
            <a:ext cx="361039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CMDB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84304" y="4919165"/>
            <a:ext cx="507712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工单系统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724364" y="4919165"/>
            <a:ext cx="502070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网络系统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74164" y="4919165"/>
            <a:ext cx="614895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互联网知识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781919" y="4919165"/>
            <a:ext cx="609254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第三方系统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9757" y="5302770"/>
            <a:ext cx="834904" cy="1692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92" b="1">
                <a:solidFill>
                  <a:srgbClr val="16A8C8"/>
                </a:solidFill>
                <a:latin typeface="Microsoft YaHei"/>
              </a:rPr>
              <a:t>数据采集层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45215" y="5646886"/>
            <a:ext cx="394887" cy="1579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55575A"/>
                </a:solidFill>
                <a:latin typeface="Microsoft YaHei"/>
              </a:rPr>
              <a:t>数据库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17580" y="5646886"/>
            <a:ext cx="389245" cy="1523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83" b="1">
                <a:solidFill>
                  <a:srgbClr val="55575A"/>
                </a:solidFill>
                <a:latin typeface="Microsoft YaHei"/>
              </a:rPr>
              <a:t>数据仓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127891" y="5652527"/>
            <a:ext cx="609254" cy="146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47" b="1">
                <a:solidFill>
                  <a:srgbClr val="55575A"/>
                </a:solidFill>
                <a:latin typeface="Microsoft YaHei"/>
              </a:rPr>
              <a:t>结构化数据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11539" y="5652527"/>
            <a:ext cx="733361" cy="146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47" b="1">
                <a:solidFill>
                  <a:srgbClr val="55575A"/>
                </a:solidFill>
                <a:latin typeface="Microsoft YaHei"/>
              </a:rPr>
              <a:t>非结构化数据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24935" y="5652527"/>
            <a:ext cx="507712" cy="146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47" b="1">
                <a:solidFill>
                  <a:srgbClr val="55575A"/>
                </a:solidFill>
                <a:latin typeface="Microsoft YaHei"/>
              </a:rPr>
              <a:t>文件存储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