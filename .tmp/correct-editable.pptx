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475474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731716" y="4757298"/>
            <a:ext cx="1503844" cy="6670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900186" y="4757298"/>
            <a:ext cx="1503844" cy="6670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24373" y="4757298"/>
            <a:ext cx="1503844" cy="6670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85686" y="4757298"/>
            <a:ext cx="1497993" cy="6670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92319" y="4763150"/>
            <a:ext cx="1503844" cy="66122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059740" y="4763150"/>
            <a:ext cx="1497993" cy="66122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398179" y="2527863"/>
            <a:ext cx="1819827" cy="43886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44290" y="2527863"/>
            <a:ext cx="1819827" cy="43886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96252" y="2527863"/>
            <a:ext cx="1819827" cy="43886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07254" y="2527863"/>
            <a:ext cx="1819827" cy="43886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71443" y="2527863"/>
            <a:ext cx="1819827" cy="43886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97389" y="5798872"/>
            <a:ext cx="1474587" cy="47397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36076" y="5798872"/>
            <a:ext cx="1474587" cy="47397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17740" y="5798872"/>
            <a:ext cx="1468735" cy="47397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709873" y="5798872"/>
            <a:ext cx="1468735" cy="47397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743419" y="4997211"/>
            <a:ext cx="1480438" cy="4096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36076" y="4997211"/>
            <a:ext cx="1474587" cy="4096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071443" y="4997211"/>
            <a:ext cx="1474587" cy="4096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197389" y="4997211"/>
            <a:ext cx="1474587" cy="4096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17740" y="4997211"/>
            <a:ext cx="1468735" cy="4096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709873" y="4997211"/>
            <a:ext cx="1468735" cy="4096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913114" y="4055114"/>
            <a:ext cx="1258080" cy="4154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04377" y="4055114"/>
            <a:ext cx="1258080" cy="4154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071443" y="4055114"/>
            <a:ext cx="1258080" cy="4154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502894" y="4055114"/>
            <a:ext cx="1252228" cy="4154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979656" y="4055114"/>
            <a:ext cx="1252228" cy="4154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93366" y="4055114"/>
            <a:ext cx="1252228" cy="4154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1076957" y="1351704"/>
            <a:ext cx="1094237" cy="36864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437302" y="1351704"/>
            <a:ext cx="1094237" cy="36864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071443" y="1351704"/>
            <a:ext cx="1094237" cy="36864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879568" y="1345853"/>
            <a:ext cx="1094237" cy="36864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437302" y="889433"/>
            <a:ext cx="1094237" cy="36864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071443" y="889433"/>
            <a:ext cx="1094237" cy="36864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1076957" y="883581"/>
            <a:ext cx="1094237" cy="36864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257129" y="883581"/>
            <a:ext cx="1094237" cy="36864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257129" y="427162"/>
            <a:ext cx="1094237" cy="36864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437302" y="427162"/>
            <a:ext cx="1094237" cy="36864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879568" y="427162"/>
            <a:ext cx="1094237" cy="36864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071443" y="427162"/>
            <a:ext cx="1094237" cy="36864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693544" y="1345853"/>
            <a:ext cx="1088385" cy="36864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693544" y="883581"/>
            <a:ext cx="1088385" cy="36864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1082808" y="427162"/>
            <a:ext cx="1088385" cy="36864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693544" y="421310"/>
            <a:ext cx="1088385" cy="36864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257129" y="1345853"/>
            <a:ext cx="1094237" cy="3627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879568" y="889433"/>
            <a:ext cx="1094237" cy="3627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52059" y="122882"/>
            <a:ext cx="977206" cy="193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46" b="1">
                <a:solidFill>
                  <a:srgbClr val="55575A"/>
                </a:solidFill>
                <a:latin typeface="Microsoft YaHei"/>
              </a:rPr>
              <a:t>资产自动盘点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95293" y="122882"/>
            <a:ext cx="825066" cy="193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46" b="1">
                <a:solidFill>
                  <a:srgbClr val="55575A"/>
                </a:solidFill>
                <a:latin typeface="Microsoft YaHei"/>
              </a:rPr>
              <a:t>知识库问答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85339" y="122882"/>
            <a:ext cx="667075" cy="193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46" b="1">
                <a:solidFill>
                  <a:srgbClr val="55575A"/>
                </a:solidFill>
                <a:latin typeface="Microsoft YaHei"/>
              </a:rPr>
              <a:t>智能巡检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87612" y="122882"/>
            <a:ext cx="667075" cy="193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46" b="1">
                <a:solidFill>
                  <a:srgbClr val="55575A"/>
                </a:solidFill>
                <a:latin typeface="Microsoft YaHei"/>
              </a:rPr>
              <a:t>应急处置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49786" y="128733"/>
            <a:ext cx="983058" cy="1872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9" b="1">
                <a:solidFill>
                  <a:srgbClr val="55575A"/>
                </a:solidFill>
                <a:latin typeface="Microsoft YaHei"/>
              </a:rPr>
              <a:t>故障根因分析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53365" y="140436"/>
            <a:ext cx="971354" cy="1696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95" b="1">
                <a:solidFill>
                  <a:srgbClr val="55575A"/>
                </a:solidFill>
                <a:latin typeface="Microsoft YaHei"/>
              </a:rPr>
              <a:t>运维数据分析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28129" y="526638"/>
            <a:ext cx="807511" cy="1579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20" b="1">
                <a:solidFill>
                  <a:srgbClr val="55575A"/>
                </a:solidFill>
                <a:latin typeface="Microsoft YaHei"/>
              </a:rPr>
              <a:t>资产变化趋势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48738" y="532489"/>
            <a:ext cx="555895" cy="1579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20" b="1">
                <a:solidFill>
                  <a:srgbClr val="55575A"/>
                </a:solidFill>
                <a:latin typeface="Microsoft YaHei"/>
              </a:rPr>
              <a:t>搜索定位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38003" y="532489"/>
            <a:ext cx="532489" cy="1638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7" b="1">
                <a:solidFill>
                  <a:srgbClr val="55575A"/>
                </a:solidFill>
                <a:latin typeface="Microsoft YaHei"/>
              </a:rPr>
              <a:t>日常巡检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77738" y="538341"/>
            <a:ext cx="813363" cy="1579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20" b="1">
                <a:solidFill>
                  <a:srgbClr val="55575A"/>
                </a:solidFill>
                <a:latin typeface="Microsoft YaHei"/>
              </a:rPr>
              <a:t>解决方案推荐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46127" y="538341"/>
            <a:ext cx="555895" cy="1579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20" b="1">
                <a:solidFill>
                  <a:srgbClr val="55575A"/>
                </a:solidFill>
                <a:latin typeface="Microsoft YaHei"/>
              </a:rPr>
              <a:t>预案匹配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23583" y="544192"/>
            <a:ext cx="789957" cy="1404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6" b="1">
                <a:solidFill>
                  <a:srgbClr val="55575A"/>
                </a:solidFill>
                <a:latin typeface="Microsoft YaHei"/>
              </a:rPr>
              <a:t>告警数据统计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48738" y="988909"/>
            <a:ext cx="555895" cy="1638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7" b="1">
                <a:solidFill>
                  <a:srgbClr val="55575A"/>
                </a:solidFill>
                <a:latin typeface="Microsoft YaHei"/>
              </a:rPr>
              <a:t>指标关联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28129" y="988909"/>
            <a:ext cx="819215" cy="1579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20" b="1">
                <a:solidFill>
                  <a:srgbClr val="55575A"/>
                </a:solidFill>
                <a:latin typeface="Microsoft YaHei"/>
              </a:rPr>
              <a:t>资产关系分析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20448" y="988909"/>
            <a:ext cx="555895" cy="1579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20" b="1">
                <a:solidFill>
                  <a:srgbClr val="55575A"/>
                </a:solidFill>
                <a:latin typeface="Microsoft YaHei"/>
              </a:rPr>
              <a:t>特巡特维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293464" y="988909"/>
            <a:ext cx="667075" cy="1579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20" b="1">
                <a:solidFill>
                  <a:srgbClr val="55575A"/>
                </a:solidFill>
                <a:latin typeface="Microsoft YaHei"/>
              </a:rPr>
              <a:t>自动化处置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211880" y="994761"/>
            <a:ext cx="813363" cy="1579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20" b="1">
                <a:solidFill>
                  <a:srgbClr val="55575A"/>
                </a:solidFill>
                <a:latin typeface="Microsoft YaHei"/>
              </a:rPr>
              <a:t>监控指标获取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77738" y="994761"/>
            <a:ext cx="813363" cy="1579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20" b="1">
                <a:solidFill>
                  <a:srgbClr val="55575A"/>
                </a:solidFill>
                <a:latin typeface="Microsoft YaHei"/>
              </a:rPr>
              <a:t>故障处理建议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1005" y="1029870"/>
            <a:ext cx="591005" cy="2223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35" b="1">
                <a:solidFill>
                  <a:srgbClr val="16A8C8"/>
                </a:solidFill>
                <a:latin typeface="Microsoft YaHei"/>
              </a:rPr>
              <a:t>应用层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892496" y="1433626"/>
            <a:ext cx="684629" cy="17554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33" b="1">
                <a:solidFill>
                  <a:srgbClr val="55575A"/>
                </a:solidFill>
                <a:latin typeface="Microsoft YaHei"/>
              </a:rPr>
              <a:t>合规性校验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211880" y="1445329"/>
            <a:ext cx="807511" cy="1579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20" b="1">
                <a:solidFill>
                  <a:srgbClr val="55575A"/>
                </a:solidFill>
                <a:latin typeface="Microsoft YaHei"/>
              </a:rPr>
              <a:t>监控类型统计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526300" y="1445329"/>
            <a:ext cx="550044" cy="1638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7" b="1">
                <a:solidFill>
                  <a:srgbClr val="55575A"/>
                </a:solidFill>
                <a:latin typeface="Microsoft YaHei"/>
              </a:rPr>
              <a:t>安全检查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48738" y="1451180"/>
            <a:ext cx="544192" cy="1638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7" b="1">
                <a:solidFill>
                  <a:srgbClr val="55575A"/>
                </a:solidFill>
                <a:latin typeface="Microsoft YaHei"/>
              </a:rPr>
              <a:t>异常调用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77738" y="1457032"/>
            <a:ext cx="813363" cy="1579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20" b="1">
                <a:solidFill>
                  <a:srgbClr val="55575A"/>
                </a:solidFill>
                <a:latin typeface="Microsoft YaHei"/>
              </a:rPr>
              <a:t>运维知识检索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346127" y="1457032"/>
            <a:ext cx="555895" cy="1638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7" b="1">
                <a:solidFill>
                  <a:srgbClr val="55575A"/>
                </a:solidFill>
                <a:latin typeface="Microsoft YaHei"/>
              </a:rPr>
              <a:t>复盘总结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97904" y="2586378"/>
            <a:ext cx="971354" cy="2516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24" b="1">
                <a:solidFill>
                  <a:srgbClr val="16A8C8"/>
                </a:solidFill>
                <a:latin typeface="Microsoft YaHei"/>
              </a:rPr>
              <a:t>Al Agent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69703" y="2662448"/>
            <a:ext cx="672926" cy="17554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33" b="1">
                <a:solidFill>
                  <a:srgbClr val="55575A"/>
                </a:solidFill>
                <a:latin typeface="Microsoft YaHei"/>
              </a:rPr>
              <a:t>资产Agent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533715" y="2674151"/>
            <a:ext cx="918691" cy="1579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20" b="1">
                <a:solidFill>
                  <a:srgbClr val="55575A"/>
                </a:solidFill>
                <a:latin typeface="Microsoft YaHei"/>
              </a:rPr>
              <a:t>日志分析Agent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63674" y="2674151"/>
            <a:ext cx="930394" cy="1579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20" b="1">
                <a:solidFill>
                  <a:srgbClr val="55575A"/>
                </a:solidFill>
                <a:latin typeface="Microsoft YaHei"/>
              </a:rPr>
              <a:t>指标监控Agent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789006" y="2674151"/>
            <a:ext cx="930394" cy="1579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20" b="1">
                <a:solidFill>
                  <a:srgbClr val="55575A"/>
                </a:solidFill>
                <a:latin typeface="Microsoft YaHei"/>
              </a:rPr>
              <a:t>运维知识Agent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854598" y="2674151"/>
            <a:ext cx="918691" cy="1579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20" b="1">
                <a:solidFill>
                  <a:srgbClr val="55575A"/>
                </a:solidFill>
                <a:latin typeface="Microsoft YaHei"/>
              </a:rPr>
              <a:t>分析执行Agent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971017" y="3458257"/>
            <a:ext cx="766551" cy="23406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1" b="1">
                <a:solidFill>
                  <a:srgbClr val="55575A"/>
                </a:solidFill>
                <a:latin typeface="Microsoft YaHei"/>
              </a:rPr>
              <a:t>向量模型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92319" y="3475812"/>
            <a:ext cx="947948" cy="1989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84" b="1">
                <a:solidFill>
                  <a:srgbClr val="55575A"/>
                </a:solidFill>
                <a:latin typeface="Microsoft YaHei"/>
              </a:rPr>
              <a:t>通用大模型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56943" y="3803498"/>
            <a:ext cx="942097" cy="1989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84" b="1">
                <a:solidFill>
                  <a:srgbClr val="16A8C8"/>
                </a:solidFill>
                <a:latin typeface="Microsoft YaHei"/>
              </a:rPr>
              <a:t>大模型底座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711711" y="4008302"/>
            <a:ext cx="813363" cy="18139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71" b="1">
                <a:solidFill>
                  <a:srgbClr val="55575A"/>
                </a:solidFill>
                <a:latin typeface="Microsoft YaHei"/>
              </a:rPr>
              <a:t>清洗、标注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416684" y="4177996"/>
            <a:ext cx="561747" cy="17554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33" b="1">
                <a:solidFill>
                  <a:srgbClr val="55575A"/>
                </a:solidFill>
                <a:latin typeface="Microsoft YaHei"/>
              </a:rPr>
              <a:t>文本分段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867865" y="4177996"/>
            <a:ext cx="503232" cy="17554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33" b="1">
                <a:solidFill>
                  <a:srgbClr val="55575A"/>
                </a:solidFill>
                <a:latin typeface="Microsoft YaHei"/>
              </a:rPr>
              <a:t>QA拆分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877392" y="4177996"/>
            <a:ext cx="497380" cy="17554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33" b="1">
                <a:solidFill>
                  <a:srgbClr val="55575A"/>
                </a:solidFill>
                <a:latin typeface="Microsoft YaHei"/>
              </a:rPr>
              <a:t>QA拆分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199839" y="4183848"/>
            <a:ext cx="684629" cy="152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82" b="1">
                <a:solidFill>
                  <a:srgbClr val="55575A"/>
                </a:solidFill>
                <a:latin typeface="Microsoft YaHei"/>
              </a:rPr>
              <a:t>文本向量化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330749" y="4189699"/>
            <a:ext cx="555895" cy="152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82" b="1">
                <a:solidFill>
                  <a:srgbClr val="55575A"/>
                </a:solidFill>
                <a:latin typeface="Microsoft YaHei"/>
              </a:rPr>
              <a:t>语义关联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455469" y="4189699"/>
            <a:ext cx="550044" cy="152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82" b="1">
                <a:solidFill>
                  <a:srgbClr val="55575A"/>
                </a:solidFill>
                <a:latin typeface="Microsoft YaHei"/>
              </a:rPr>
              <a:t>文本分段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129621" y="5120093"/>
            <a:ext cx="702184" cy="1696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95" b="1">
                <a:solidFill>
                  <a:srgbClr val="55575A"/>
                </a:solidFill>
                <a:latin typeface="Microsoft YaHei"/>
              </a:rPr>
              <a:t>第三方系统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545418" y="5125945"/>
            <a:ext cx="532489" cy="1638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7" b="1">
                <a:solidFill>
                  <a:srgbClr val="55575A"/>
                </a:solidFill>
                <a:latin typeface="Microsoft YaHei"/>
              </a:rPr>
              <a:t>日志平台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224808" y="5125945"/>
            <a:ext cx="444716" cy="1638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7" b="1">
                <a:solidFill>
                  <a:srgbClr val="55575A"/>
                </a:solidFill>
                <a:latin typeface="Microsoft YaHei"/>
              </a:rPr>
              <a:t>CMDB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892496" y="5125945"/>
            <a:ext cx="561747" cy="1638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7" b="1">
                <a:solidFill>
                  <a:srgbClr val="55575A"/>
                </a:solidFill>
                <a:latin typeface="Microsoft YaHei"/>
              </a:rPr>
              <a:t>工单系统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659660" y="5125945"/>
            <a:ext cx="555895" cy="1638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7" b="1">
                <a:solidFill>
                  <a:srgbClr val="55575A"/>
                </a:solidFill>
                <a:latin typeface="Microsoft YaHei"/>
              </a:rPr>
              <a:t>网络系统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368308" y="5125945"/>
            <a:ext cx="550044" cy="1638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7" b="1">
                <a:solidFill>
                  <a:srgbClr val="55575A"/>
                </a:solidFill>
                <a:latin typeface="Microsoft YaHei"/>
              </a:rPr>
              <a:t>指标平台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80349" y="5553107"/>
            <a:ext cx="947948" cy="193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46" b="1">
                <a:solidFill>
                  <a:srgbClr val="16A8C8"/>
                </a:solidFill>
                <a:latin typeface="Microsoft YaHei"/>
              </a:rPr>
              <a:t>数据采集层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224808" y="5956863"/>
            <a:ext cx="433013" cy="1638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7" b="1">
                <a:solidFill>
                  <a:srgbClr val="55575A"/>
                </a:solidFill>
                <a:latin typeface="Microsoft YaHei"/>
              </a:rPr>
              <a:t>数据仓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833981" y="5956863"/>
            <a:ext cx="684629" cy="152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82" b="1">
                <a:solidFill>
                  <a:srgbClr val="55575A"/>
                </a:solidFill>
                <a:latin typeface="Microsoft YaHei"/>
              </a:rPr>
              <a:t>结构化数据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374160" y="5956863"/>
            <a:ext cx="555895" cy="1579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20" b="1">
                <a:solidFill>
                  <a:srgbClr val="55575A"/>
                </a:solidFill>
                <a:latin typeface="Microsoft YaHei"/>
              </a:rPr>
              <a:t>文件存储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525075" y="5962715"/>
            <a:ext cx="813363" cy="152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82" b="1">
                <a:solidFill>
                  <a:srgbClr val="55575A"/>
                </a:solidFill>
                <a:latin typeface="Microsoft YaHei"/>
              </a:rPr>
              <a:t>非结构化数据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