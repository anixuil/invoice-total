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8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E3E3"/>
    <a:srgbClr val="DBDDE4"/>
    <a:srgbClr val="C0C7E3"/>
    <a:srgbClr val="E9EDF9"/>
    <a:srgbClr val="FFFFFF"/>
    <a:srgbClr val="E9ECFB"/>
    <a:srgbClr val="DDE2F8"/>
    <a:srgbClr val="DDE2F6"/>
    <a:srgbClr val="FEFEFE"/>
    <a:srgbClr val="E0E3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83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63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/>
          <p:cNvGrpSpPr/>
          <p:nvPr/>
        </p:nvGrpSpPr>
        <p:grpSpPr>
          <a:xfrm>
            <a:off x="232410" y="419100"/>
            <a:ext cx="1278255" cy="2098675"/>
            <a:chOff x="5480" y="763"/>
            <a:chExt cx="2013" cy="3461"/>
          </a:xfrm>
        </p:grpSpPr>
        <p:sp>
          <p:nvSpPr>
            <p:cNvPr id="5" name="矩形 4"/>
            <p:cNvSpPr/>
            <p:nvPr/>
          </p:nvSpPr>
          <p:spPr>
            <a:xfrm>
              <a:off x="5493" y="763"/>
              <a:ext cx="2000" cy="3455"/>
            </a:xfrm>
            <a:prstGeom prst="rect">
              <a:avLst/>
            </a:prstGeom>
            <a:gradFill>
              <a:gsLst>
                <a:gs pos="0">
                  <a:srgbClr val="F8FDFF"/>
                </a:gs>
                <a:gs pos="74000">
                  <a:srgbClr val="EEF9FF"/>
                </a:gs>
                <a:gs pos="100000">
                  <a:srgbClr val="E0F3F9"/>
                </a:gs>
              </a:gsLst>
              <a:lin ang="1038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400" b="1">
                  <a:solidFill>
                    <a:srgbClr val="50AACC"/>
                  </a:solidFill>
                  <a:latin typeface="思源黑体 CN VF Normal" panose="020B0200000000000000" charset="-122"/>
                  <a:ea typeface="思源黑体 CN VF Normal" panose="020B0200000000000000" charset="-122"/>
                </a:rPr>
                <a:t>应用层</a:t>
              </a:r>
              <a:endParaRPr lang="zh-CN" altLang="en-US" sz="1400" b="1">
                <a:solidFill>
                  <a:srgbClr val="50AACC"/>
                </a:solidFill>
                <a:latin typeface="思源黑体 CN VF Normal" panose="020B0200000000000000" charset="-122"/>
                <a:ea typeface="思源黑体 CN VF Normal" panose="020B0200000000000000" charset="-122"/>
              </a:endParaRPr>
            </a:p>
          </p:txBody>
        </p:sp>
        <p:cxnSp>
          <p:nvCxnSpPr>
            <p:cNvPr id="7" name="直接连接符 6"/>
            <p:cNvCxnSpPr/>
            <p:nvPr/>
          </p:nvCxnSpPr>
          <p:spPr>
            <a:xfrm>
              <a:off x="5480" y="768"/>
              <a:ext cx="24" cy="3456"/>
            </a:xfrm>
            <a:prstGeom prst="line">
              <a:avLst/>
            </a:prstGeom>
            <a:ln w="38100">
              <a:solidFill>
                <a:srgbClr val="50AACC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21" name="组合 20"/>
          <p:cNvGrpSpPr/>
          <p:nvPr/>
        </p:nvGrpSpPr>
        <p:grpSpPr>
          <a:xfrm>
            <a:off x="224197" y="3429000"/>
            <a:ext cx="1195028" cy="1363980"/>
            <a:chOff x="5479" y="708"/>
            <a:chExt cx="2014" cy="3457"/>
          </a:xfrm>
        </p:grpSpPr>
        <p:sp>
          <p:nvSpPr>
            <p:cNvPr id="22" name="矩形 21"/>
            <p:cNvSpPr/>
            <p:nvPr/>
          </p:nvSpPr>
          <p:spPr>
            <a:xfrm>
              <a:off x="5493" y="710"/>
              <a:ext cx="2000" cy="3455"/>
            </a:xfrm>
            <a:prstGeom prst="rect">
              <a:avLst/>
            </a:prstGeom>
            <a:gradFill>
              <a:gsLst>
                <a:gs pos="0">
                  <a:srgbClr val="F8FDFF"/>
                </a:gs>
                <a:gs pos="74000">
                  <a:srgbClr val="EEF9FF"/>
                </a:gs>
                <a:gs pos="100000">
                  <a:srgbClr val="E0F3F9"/>
                </a:gs>
              </a:gsLst>
              <a:lin ang="1038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400" b="1">
                  <a:solidFill>
                    <a:srgbClr val="50AACC"/>
                  </a:solidFill>
                  <a:latin typeface="思源黑体 CN VF Normal" panose="020B0200000000000000" charset="-122"/>
                  <a:ea typeface="思源黑体 CN VF Normal" panose="020B0200000000000000" charset="-122"/>
                </a:rPr>
                <a:t>大模型底座</a:t>
              </a:r>
              <a:endParaRPr lang="zh-CN" altLang="en-US" sz="1400" b="1">
                <a:solidFill>
                  <a:srgbClr val="50AACC"/>
                </a:solidFill>
                <a:latin typeface="思源黑体 CN VF Normal" panose="020B0200000000000000" charset="-122"/>
                <a:ea typeface="思源黑体 CN VF Normal" panose="020B0200000000000000" charset="-122"/>
              </a:endParaRPr>
            </a:p>
          </p:txBody>
        </p:sp>
        <p:cxnSp>
          <p:nvCxnSpPr>
            <p:cNvPr id="23" name="直接连接符 22"/>
            <p:cNvCxnSpPr/>
            <p:nvPr/>
          </p:nvCxnSpPr>
          <p:spPr>
            <a:xfrm flipH="1">
              <a:off x="5479" y="708"/>
              <a:ext cx="1" cy="3433"/>
            </a:xfrm>
            <a:prstGeom prst="line">
              <a:avLst/>
            </a:prstGeom>
            <a:ln w="38100">
              <a:solidFill>
                <a:srgbClr val="50AACC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24" name="组合 23"/>
          <p:cNvGrpSpPr/>
          <p:nvPr/>
        </p:nvGrpSpPr>
        <p:grpSpPr>
          <a:xfrm>
            <a:off x="232410" y="2669161"/>
            <a:ext cx="1278255" cy="596988"/>
            <a:chOff x="5480" y="768"/>
            <a:chExt cx="2013" cy="3351"/>
          </a:xfrm>
        </p:grpSpPr>
        <p:sp>
          <p:nvSpPr>
            <p:cNvPr id="25" name="矩形 24"/>
            <p:cNvSpPr/>
            <p:nvPr/>
          </p:nvSpPr>
          <p:spPr>
            <a:xfrm>
              <a:off x="5493" y="772"/>
              <a:ext cx="2000" cy="3254"/>
            </a:xfrm>
            <a:prstGeom prst="rect">
              <a:avLst/>
            </a:prstGeom>
            <a:gradFill>
              <a:gsLst>
                <a:gs pos="0">
                  <a:srgbClr val="F8FDFF"/>
                </a:gs>
                <a:gs pos="74000">
                  <a:srgbClr val="EEF9FF"/>
                </a:gs>
                <a:gs pos="100000">
                  <a:srgbClr val="E0F3F9"/>
                </a:gs>
              </a:gsLst>
              <a:lin ang="1038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400" b="1">
                  <a:solidFill>
                    <a:srgbClr val="50AACC"/>
                  </a:solidFill>
                  <a:latin typeface="思源黑体 CN VF Normal" panose="020B0200000000000000" charset="-122"/>
                  <a:ea typeface="思源黑体 CN VF Normal" panose="020B0200000000000000" charset="-122"/>
                </a:rPr>
                <a:t>AI  Agent</a:t>
              </a:r>
              <a:endParaRPr lang="en-US" altLang="zh-CN" sz="1400" b="1">
                <a:solidFill>
                  <a:srgbClr val="50AACC"/>
                </a:solidFill>
                <a:latin typeface="思源黑体 CN VF Normal" panose="020B0200000000000000" charset="-122"/>
                <a:ea typeface="思源黑体 CN VF Normal" panose="020B0200000000000000" charset="-122"/>
              </a:endParaRPr>
            </a:p>
          </p:txBody>
        </p:sp>
        <p:cxnSp>
          <p:nvCxnSpPr>
            <p:cNvPr id="26" name="直接连接符 25"/>
            <p:cNvCxnSpPr/>
            <p:nvPr/>
          </p:nvCxnSpPr>
          <p:spPr>
            <a:xfrm>
              <a:off x="5480" y="768"/>
              <a:ext cx="4" cy="3351"/>
            </a:xfrm>
            <a:prstGeom prst="line">
              <a:avLst/>
            </a:prstGeom>
            <a:ln w="38100">
              <a:solidFill>
                <a:srgbClr val="50AACC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27" name="组合 26"/>
          <p:cNvGrpSpPr/>
          <p:nvPr/>
        </p:nvGrpSpPr>
        <p:grpSpPr>
          <a:xfrm>
            <a:off x="192393" y="5036820"/>
            <a:ext cx="1303667" cy="1478887"/>
            <a:chOff x="5441" y="763"/>
            <a:chExt cx="2052" cy="3455"/>
          </a:xfrm>
        </p:grpSpPr>
        <p:sp>
          <p:nvSpPr>
            <p:cNvPr id="28" name="矩形 27"/>
            <p:cNvSpPr/>
            <p:nvPr/>
          </p:nvSpPr>
          <p:spPr>
            <a:xfrm>
              <a:off x="5441" y="763"/>
              <a:ext cx="2052" cy="3455"/>
            </a:xfrm>
            <a:prstGeom prst="rect">
              <a:avLst/>
            </a:prstGeom>
            <a:gradFill>
              <a:gsLst>
                <a:gs pos="0">
                  <a:srgbClr val="F8FDFF"/>
                </a:gs>
                <a:gs pos="74000">
                  <a:srgbClr val="EEF9FF"/>
                </a:gs>
                <a:gs pos="100000">
                  <a:srgbClr val="E0F3F9"/>
                </a:gs>
              </a:gsLst>
              <a:lin ang="1038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400" b="1">
                  <a:solidFill>
                    <a:srgbClr val="50AACC"/>
                  </a:solidFill>
                  <a:latin typeface="思源黑体 CN VF Normal" panose="020B0200000000000000" charset="-122"/>
                  <a:ea typeface="思源黑体 CN VF Normal" panose="020B0200000000000000" charset="-122"/>
                </a:rPr>
                <a:t>数据采集层</a:t>
              </a:r>
              <a:endParaRPr lang="zh-CN" altLang="en-US" sz="1400" b="1">
                <a:solidFill>
                  <a:srgbClr val="50AACC"/>
                </a:solidFill>
                <a:latin typeface="思源黑体 CN VF Normal" panose="020B0200000000000000" charset="-122"/>
                <a:ea typeface="思源黑体 CN VF Normal" panose="020B0200000000000000" charset="-122"/>
              </a:endParaRPr>
            </a:p>
          </p:txBody>
        </p:sp>
        <p:cxnSp>
          <p:nvCxnSpPr>
            <p:cNvPr id="29" name="直接连接符 28"/>
            <p:cNvCxnSpPr/>
            <p:nvPr/>
          </p:nvCxnSpPr>
          <p:spPr>
            <a:xfrm flipH="1">
              <a:off x="5475" y="768"/>
              <a:ext cx="5" cy="3427"/>
            </a:xfrm>
            <a:prstGeom prst="line">
              <a:avLst/>
            </a:prstGeom>
            <a:ln w="38100">
              <a:solidFill>
                <a:srgbClr val="50AACC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113" name="组合 112"/>
          <p:cNvGrpSpPr/>
          <p:nvPr/>
        </p:nvGrpSpPr>
        <p:grpSpPr>
          <a:xfrm>
            <a:off x="1781810" y="412750"/>
            <a:ext cx="10104120" cy="2143772"/>
            <a:chOff x="2803" y="389"/>
            <a:chExt cx="15916" cy="3313"/>
          </a:xfrm>
        </p:grpSpPr>
        <p:grpSp>
          <p:nvGrpSpPr>
            <p:cNvPr id="16" name="组合 15"/>
            <p:cNvGrpSpPr/>
            <p:nvPr/>
          </p:nvGrpSpPr>
          <p:grpSpPr>
            <a:xfrm>
              <a:off x="2803" y="399"/>
              <a:ext cx="2424" cy="3303"/>
              <a:chOff x="2274" y="649"/>
              <a:chExt cx="1819" cy="2490"/>
            </a:xfrm>
          </p:grpSpPr>
          <p:sp>
            <p:nvSpPr>
              <p:cNvPr id="4" name="矩形 3"/>
              <p:cNvSpPr/>
              <p:nvPr/>
            </p:nvSpPr>
            <p:spPr>
              <a:xfrm>
                <a:off x="2274" y="649"/>
                <a:ext cx="1819" cy="2490"/>
              </a:xfrm>
              <a:prstGeom prst="rect">
                <a:avLst/>
              </a:prstGeom>
              <a:solidFill>
                <a:srgbClr val="F3F7FF"/>
              </a:solidFill>
              <a:ln>
                <a:solidFill>
                  <a:srgbClr val="D8DFE7"/>
                </a:solidFill>
                <a:prstDash val="dash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1200" b="1">
                    <a:solidFill>
                      <a:schemeClr val="bg1">
                        <a:lumMod val="50000"/>
                      </a:schemeClr>
                    </a:solidFill>
                    <a:latin typeface="思源黑体 CN VF Normal" panose="020B0200000000000000" charset="-122"/>
                    <a:ea typeface="思源黑体 CN VF Normal" panose="020B0200000000000000" charset="-122"/>
                  </a:rPr>
                  <a:t>运维数据分析</a:t>
                </a:r>
                <a:endParaRPr lang="zh-CN" altLang="en-US" sz="900" b="1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algn="ctr"/>
                <a:endParaRPr lang="zh-CN" altLang="en-US" sz="900" b="1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algn="ctr"/>
                <a:endParaRPr lang="zh-CN" altLang="en-US" sz="900" b="1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algn="ctr"/>
                <a:endParaRPr lang="zh-CN" altLang="en-US" sz="900" b="1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algn="ctr"/>
                <a:endParaRPr lang="zh-CN" altLang="en-US" sz="900" b="1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algn="ctr"/>
                <a:endParaRPr lang="zh-CN" altLang="en-US" sz="90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algn="ctr"/>
                <a:endParaRPr lang="zh-CN" altLang="en-US" sz="90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algn="ctr"/>
                <a:endParaRPr lang="zh-CN" altLang="en-US" sz="90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algn="ctr"/>
                <a:endParaRPr lang="zh-CN" altLang="en-US" sz="90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algn="ctr"/>
                <a:endParaRPr lang="zh-CN" altLang="en-US" sz="90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algn="ctr"/>
                <a:endParaRPr lang="zh-CN" altLang="en-US" sz="90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algn="ctr"/>
                <a:endParaRPr lang="zh-CN" altLang="en-US" sz="90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algn="ctr"/>
                <a:endParaRPr lang="zh-CN" altLang="en-US" sz="90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algn="ctr"/>
                <a:endParaRPr lang="zh-CN" altLang="en-US" sz="90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9" name="圆角矩形 8"/>
              <p:cNvSpPr/>
              <p:nvPr/>
            </p:nvSpPr>
            <p:spPr>
              <a:xfrm>
                <a:off x="2543" y="1071"/>
                <a:ext cx="1240" cy="417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D8DFE7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1000" b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黑体 CN VF Normal" panose="020B0200000000000000" charset="-122"/>
                    <a:ea typeface="思源黑体 CN VF Normal" panose="020B0200000000000000" charset="-122"/>
                  </a:rPr>
                  <a:t>告警数据统计</a:t>
                </a:r>
                <a:endParaRPr lang="zh-CN" altLang="en-US"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VF Normal" panose="020B0200000000000000" charset="-122"/>
                  <a:ea typeface="思源黑体 CN VF Normal" panose="020B0200000000000000" charset="-122"/>
                </a:endParaRPr>
              </a:p>
            </p:txBody>
          </p:sp>
          <p:sp>
            <p:nvSpPr>
              <p:cNvPr id="13" name="圆角矩形 12"/>
              <p:cNvSpPr/>
              <p:nvPr/>
            </p:nvSpPr>
            <p:spPr>
              <a:xfrm>
                <a:off x="2543" y="1584"/>
                <a:ext cx="1240" cy="417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D8DFE7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1000" b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黑体 CN VF Normal" panose="020B0200000000000000" charset="-122"/>
                    <a:ea typeface="思源黑体 CN VF Normal" panose="020B0200000000000000" charset="-122"/>
                  </a:rPr>
                  <a:t>监控指标获取</a:t>
                </a:r>
                <a:endParaRPr lang="zh-CN" altLang="en-US"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VF Normal" panose="020B0200000000000000" charset="-122"/>
                  <a:ea typeface="思源黑体 CN VF Normal" panose="020B0200000000000000" charset="-122"/>
                </a:endParaRPr>
              </a:p>
            </p:txBody>
          </p:sp>
          <p:sp>
            <p:nvSpPr>
              <p:cNvPr id="14" name="圆角矩形 13"/>
              <p:cNvSpPr/>
              <p:nvPr/>
            </p:nvSpPr>
            <p:spPr>
              <a:xfrm>
                <a:off x="2543" y="2097"/>
                <a:ext cx="1240" cy="417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D8DFE7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1000" b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黑体 CN VF Normal" panose="020B0200000000000000" charset="-122"/>
                    <a:ea typeface="思源黑体 CN VF Normal" panose="020B0200000000000000" charset="-122"/>
                  </a:rPr>
                  <a:t>监控类型统计</a:t>
                </a:r>
                <a:endParaRPr lang="zh-CN" altLang="en-US"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VF Normal" panose="020B0200000000000000" charset="-122"/>
                  <a:ea typeface="思源黑体 CN VF Normal" panose="020B0200000000000000" charset="-122"/>
                </a:endParaRPr>
              </a:p>
            </p:txBody>
          </p:sp>
          <p:sp>
            <p:nvSpPr>
              <p:cNvPr id="15" name="圆角矩形 14"/>
              <p:cNvSpPr/>
              <p:nvPr/>
            </p:nvSpPr>
            <p:spPr>
              <a:xfrm>
                <a:off x="2543" y="2610"/>
                <a:ext cx="1240" cy="417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D8DFE7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000" b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黑体 CN VF Normal" panose="020B0200000000000000" charset="-122"/>
                    <a:ea typeface="思源黑体 CN VF Normal" panose="020B0200000000000000" charset="-122"/>
                  </a:rPr>
                  <a:t>...</a:t>
                </a:r>
                <a:endParaRPr lang="en-US" altLang="zh-CN"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VF Normal" panose="020B0200000000000000" charset="-122"/>
                  <a:ea typeface="思源黑体 CN VF Normal" panose="020B0200000000000000" charset="-122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>
              <a:off x="5527" y="394"/>
              <a:ext cx="2412" cy="3303"/>
              <a:chOff x="2274" y="649"/>
              <a:chExt cx="1810" cy="2490"/>
            </a:xfrm>
          </p:grpSpPr>
          <p:sp>
            <p:nvSpPr>
              <p:cNvPr id="31" name="矩形 30"/>
              <p:cNvSpPr/>
              <p:nvPr/>
            </p:nvSpPr>
            <p:spPr>
              <a:xfrm>
                <a:off x="2274" y="649"/>
                <a:ext cx="1810" cy="2490"/>
              </a:xfrm>
              <a:prstGeom prst="rect">
                <a:avLst/>
              </a:prstGeom>
              <a:solidFill>
                <a:srgbClr val="F3F7FF"/>
              </a:solidFill>
              <a:ln>
                <a:solidFill>
                  <a:srgbClr val="D8DFE7"/>
                </a:solidFill>
                <a:prstDash val="dash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1200" b="1">
                    <a:solidFill>
                      <a:schemeClr val="bg1">
                        <a:lumMod val="50000"/>
                      </a:schemeClr>
                    </a:solidFill>
                    <a:latin typeface="思源黑体 CN VF Normal" panose="020B0200000000000000" charset="-122"/>
                    <a:ea typeface="思源黑体 CN VF Normal" panose="020B0200000000000000" charset="-122"/>
                  </a:rPr>
                  <a:t>故障根因分析</a:t>
                </a:r>
                <a:endParaRPr lang="zh-CN" altLang="en-US" sz="900" b="1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algn="ctr"/>
                <a:endParaRPr lang="zh-CN" altLang="en-US" sz="900" b="1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algn="ctr"/>
                <a:endParaRPr lang="zh-CN" altLang="en-US" sz="900" b="1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algn="ctr"/>
                <a:endParaRPr lang="zh-CN" altLang="en-US" sz="900" b="1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algn="ctr"/>
                <a:endParaRPr lang="zh-CN" altLang="en-US" sz="900" b="1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algn="ctr"/>
                <a:endParaRPr lang="zh-CN" altLang="en-US" sz="90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algn="ctr"/>
                <a:endParaRPr lang="zh-CN" altLang="en-US" sz="90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algn="ctr"/>
                <a:endParaRPr lang="zh-CN" altLang="en-US" sz="90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algn="ctr"/>
                <a:endParaRPr lang="zh-CN" altLang="en-US" sz="90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algn="ctr"/>
                <a:endParaRPr lang="zh-CN" altLang="en-US" sz="90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algn="ctr"/>
                <a:endParaRPr lang="zh-CN" altLang="en-US" sz="90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algn="ctr"/>
                <a:endParaRPr lang="zh-CN" altLang="en-US" sz="90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algn="ctr"/>
                <a:endParaRPr lang="zh-CN" altLang="en-US" sz="90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algn="ctr"/>
                <a:endParaRPr lang="zh-CN" altLang="en-US" sz="90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2" name="圆角矩形 31"/>
              <p:cNvSpPr/>
              <p:nvPr/>
            </p:nvSpPr>
            <p:spPr>
              <a:xfrm>
                <a:off x="2543" y="1074"/>
                <a:ext cx="1240" cy="414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D8DFE7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1000" b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黑体 CN VF Normal" panose="020B0200000000000000" charset="-122"/>
                    <a:ea typeface="思源黑体 CN VF Normal" panose="020B0200000000000000" charset="-122"/>
                  </a:rPr>
                  <a:t>搜索定位</a:t>
                </a:r>
                <a:endParaRPr lang="zh-CN" altLang="en-US"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VF Normal" panose="020B0200000000000000" charset="-122"/>
                  <a:ea typeface="思源黑体 CN VF Normal" panose="020B0200000000000000" charset="-122"/>
                </a:endParaRPr>
              </a:p>
            </p:txBody>
          </p:sp>
          <p:sp>
            <p:nvSpPr>
              <p:cNvPr id="33" name="圆角矩形 32"/>
              <p:cNvSpPr/>
              <p:nvPr/>
            </p:nvSpPr>
            <p:spPr>
              <a:xfrm>
                <a:off x="2543" y="1584"/>
                <a:ext cx="1240" cy="417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D8DFE7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1000" b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黑体 CN VF Normal" panose="020B0200000000000000" charset="-122"/>
                    <a:ea typeface="思源黑体 CN VF Normal" panose="020B0200000000000000" charset="-122"/>
                  </a:rPr>
                  <a:t>指标关联</a:t>
                </a:r>
                <a:endParaRPr lang="zh-CN" altLang="en-US"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VF Normal" panose="020B0200000000000000" charset="-122"/>
                  <a:ea typeface="思源黑体 CN VF Normal" panose="020B0200000000000000" charset="-122"/>
                </a:endParaRPr>
              </a:p>
            </p:txBody>
          </p:sp>
          <p:sp>
            <p:nvSpPr>
              <p:cNvPr id="34" name="圆角矩形 33"/>
              <p:cNvSpPr/>
              <p:nvPr/>
            </p:nvSpPr>
            <p:spPr>
              <a:xfrm>
                <a:off x="2543" y="2097"/>
                <a:ext cx="1240" cy="417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D8DFE7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1000" b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黑体 CN VF Normal" panose="020B0200000000000000" charset="-122"/>
                    <a:ea typeface="思源黑体 CN VF Normal" panose="020B0200000000000000" charset="-122"/>
                  </a:rPr>
                  <a:t>异常调用</a:t>
                </a:r>
                <a:endParaRPr lang="zh-CN" altLang="en-US"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VF Normal" panose="020B0200000000000000" charset="-122"/>
                  <a:ea typeface="思源黑体 CN VF Normal" panose="020B0200000000000000" charset="-122"/>
                </a:endParaRPr>
              </a:p>
            </p:txBody>
          </p:sp>
          <p:sp>
            <p:nvSpPr>
              <p:cNvPr id="35" name="圆角矩形 34"/>
              <p:cNvSpPr/>
              <p:nvPr/>
            </p:nvSpPr>
            <p:spPr>
              <a:xfrm>
                <a:off x="2543" y="2610"/>
                <a:ext cx="1240" cy="417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D8DFE7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000" b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黑体 CN VF Normal" panose="020B0200000000000000" charset="-122"/>
                    <a:ea typeface="思源黑体 CN VF Normal" panose="020B0200000000000000" charset="-122"/>
                  </a:rPr>
                  <a:t>...</a:t>
                </a:r>
                <a:endParaRPr lang="en-US" altLang="zh-CN"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VF Normal" panose="020B0200000000000000" charset="-122"/>
                  <a:ea typeface="思源黑体 CN VF Normal" panose="020B0200000000000000" charset="-122"/>
                </a:endParaRPr>
              </a:p>
            </p:txBody>
          </p:sp>
        </p:grpSp>
        <p:grpSp>
          <p:nvGrpSpPr>
            <p:cNvPr id="36" name="组合 35"/>
            <p:cNvGrpSpPr/>
            <p:nvPr/>
          </p:nvGrpSpPr>
          <p:grpSpPr>
            <a:xfrm>
              <a:off x="8251" y="390"/>
              <a:ext cx="2379" cy="3303"/>
              <a:chOff x="2274" y="649"/>
              <a:chExt cx="1785" cy="2490"/>
            </a:xfrm>
          </p:grpSpPr>
          <p:sp>
            <p:nvSpPr>
              <p:cNvPr id="37" name="矩形 36"/>
              <p:cNvSpPr/>
              <p:nvPr/>
            </p:nvSpPr>
            <p:spPr>
              <a:xfrm>
                <a:off x="2274" y="649"/>
                <a:ext cx="1785" cy="2490"/>
              </a:xfrm>
              <a:prstGeom prst="rect">
                <a:avLst/>
              </a:prstGeom>
              <a:solidFill>
                <a:srgbClr val="F3F7FF"/>
              </a:solidFill>
              <a:ln>
                <a:solidFill>
                  <a:srgbClr val="D8DFE7"/>
                </a:solidFill>
                <a:prstDash val="dash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1200" b="1">
                    <a:solidFill>
                      <a:schemeClr val="bg1">
                        <a:lumMod val="50000"/>
                      </a:schemeClr>
                    </a:solidFill>
                    <a:latin typeface="思源黑体 CN VF Normal" panose="020B0200000000000000" charset="-122"/>
                    <a:ea typeface="思源黑体 CN VF Normal" panose="020B0200000000000000" charset="-122"/>
                  </a:rPr>
                  <a:t>资产</a:t>
                </a:r>
                <a:r>
                  <a:rPr lang="zh-CN" altLang="en-US" sz="1200" b="1">
                    <a:solidFill>
                      <a:schemeClr val="bg1">
                        <a:lumMod val="50000"/>
                      </a:schemeClr>
                    </a:solidFill>
                    <a:latin typeface="思源黑体 CN VF Normal" panose="020B0200000000000000" charset="-122"/>
                    <a:ea typeface="思源黑体 CN VF Normal" panose="020B0200000000000000" charset="-122"/>
                  </a:rPr>
                  <a:t>自动盘点</a:t>
                </a:r>
                <a:endParaRPr lang="zh-CN" altLang="en-US" sz="900" b="1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algn="ctr"/>
                <a:endParaRPr lang="zh-CN" altLang="en-US" sz="900" b="1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algn="ctr"/>
                <a:endParaRPr lang="zh-CN" altLang="en-US" sz="900" b="1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algn="ctr"/>
                <a:endParaRPr lang="zh-CN" altLang="en-US" sz="900" b="1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algn="ctr"/>
                <a:endParaRPr lang="zh-CN" altLang="en-US" sz="900" b="1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algn="ctr"/>
                <a:endParaRPr lang="zh-CN" altLang="en-US" sz="90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algn="ctr"/>
                <a:endParaRPr lang="zh-CN" altLang="en-US" sz="90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algn="ctr"/>
                <a:endParaRPr lang="zh-CN" altLang="en-US" sz="90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algn="ctr"/>
                <a:endParaRPr lang="zh-CN" altLang="en-US" sz="90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algn="ctr"/>
                <a:endParaRPr lang="zh-CN" altLang="en-US" sz="90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algn="ctr"/>
                <a:endParaRPr lang="zh-CN" altLang="en-US" sz="90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algn="ctr"/>
                <a:endParaRPr lang="zh-CN" altLang="en-US" sz="90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algn="ctr"/>
                <a:endParaRPr lang="zh-CN" altLang="en-US" sz="90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algn="ctr"/>
                <a:endParaRPr lang="zh-CN" altLang="en-US" sz="90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8" name="圆角矩形 37"/>
              <p:cNvSpPr/>
              <p:nvPr/>
            </p:nvSpPr>
            <p:spPr>
              <a:xfrm>
                <a:off x="2543" y="1071"/>
                <a:ext cx="1240" cy="417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D8DFE7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1000" b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黑体 CN VF Normal" panose="020B0200000000000000" charset="-122"/>
                    <a:ea typeface="思源黑体 CN VF Normal" panose="020B0200000000000000" charset="-122"/>
                  </a:rPr>
                  <a:t>资产变化趋势</a:t>
                </a:r>
                <a:endParaRPr lang="zh-CN" altLang="en-US"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VF Normal" panose="020B0200000000000000" charset="-122"/>
                  <a:ea typeface="思源黑体 CN VF Normal" panose="020B0200000000000000" charset="-122"/>
                </a:endParaRPr>
              </a:p>
            </p:txBody>
          </p:sp>
          <p:sp>
            <p:nvSpPr>
              <p:cNvPr id="39" name="圆角矩形 38"/>
              <p:cNvSpPr/>
              <p:nvPr/>
            </p:nvSpPr>
            <p:spPr>
              <a:xfrm>
                <a:off x="2543" y="1584"/>
                <a:ext cx="1240" cy="417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D8DFE7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1000" b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黑体 CN VF Normal" panose="020B0200000000000000" charset="-122"/>
                    <a:ea typeface="思源黑体 CN VF Normal" panose="020B0200000000000000" charset="-122"/>
                  </a:rPr>
                  <a:t>资产关系分析</a:t>
                </a:r>
                <a:endParaRPr lang="zh-CN" altLang="en-US"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VF Normal" panose="020B0200000000000000" charset="-122"/>
                  <a:ea typeface="思源黑体 CN VF Normal" panose="020B0200000000000000" charset="-122"/>
                </a:endParaRPr>
              </a:p>
            </p:txBody>
          </p:sp>
          <p:sp>
            <p:nvSpPr>
              <p:cNvPr id="40" name="圆角矩形 39"/>
              <p:cNvSpPr/>
              <p:nvPr/>
            </p:nvSpPr>
            <p:spPr>
              <a:xfrm>
                <a:off x="2543" y="2097"/>
                <a:ext cx="1240" cy="417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D8DFE7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1000" b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黑体 CN VF Normal" panose="020B0200000000000000" charset="-122"/>
                    <a:ea typeface="思源黑体 CN VF Normal" panose="020B0200000000000000" charset="-122"/>
                  </a:rPr>
                  <a:t>合规性校验</a:t>
                </a:r>
                <a:endParaRPr lang="zh-CN" altLang="en-US"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VF Normal" panose="020B0200000000000000" charset="-122"/>
                  <a:ea typeface="思源黑体 CN VF Normal" panose="020B0200000000000000" charset="-122"/>
                </a:endParaRPr>
              </a:p>
            </p:txBody>
          </p:sp>
          <p:sp>
            <p:nvSpPr>
              <p:cNvPr id="41" name="圆角矩形 40"/>
              <p:cNvSpPr/>
              <p:nvPr/>
            </p:nvSpPr>
            <p:spPr>
              <a:xfrm>
                <a:off x="2543" y="2610"/>
                <a:ext cx="1240" cy="417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D8DFE7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000" b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黑体 CN VF Normal" panose="020B0200000000000000" charset="-122"/>
                    <a:ea typeface="思源黑体 CN VF Normal" panose="020B0200000000000000" charset="-122"/>
                  </a:rPr>
                  <a:t>...</a:t>
                </a:r>
                <a:endParaRPr lang="en-US" altLang="zh-CN"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VF Normal" panose="020B0200000000000000" charset="-122"/>
                  <a:ea typeface="思源黑体 CN VF Normal" panose="020B0200000000000000" charset="-122"/>
                </a:endParaRPr>
              </a:p>
            </p:txBody>
          </p:sp>
        </p:grpSp>
        <p:grpSp>
          <p:nvGrpSpPr>
            <p:cNvPr id="48" name="组合 47"/>
            <p:cNvGrpSpPr/>
            <p:nvPr/>
          </p:nvGrpSpPr>
          <p:grpSpPr>
            <a:xfrm>
              <a:off x="16351" y="389"/>
              <a:ext cx="2368" cy="3303"/>
              <a:chOff x="2205" y="649"/>
              <a:chExt cx="1777" cy="2490"/>
            </a:xfrm>
          </p:grpSpPr>
          <p:sp>
            <p:nvSpPr>
              <p:cNvPr id="49" name="矩形 48"/>
              <p:cNvSpPr/>
              <p:nvPr/>
            </p:nvSpPr>
            <p:spPr>
              <a:xfrm>
                <a:off x="2205" y="649"/>
                <a:ext cx="1777" cy="2490"/>
              </a:xfrm>
              <a:prstGeom prst="rect">
                <a:avLst/>
              </a:prstGeom>
              <a:solidFill>
                <a:srgbClr val="F3F7FF"/>
              </a:solidFill>
              <a:ln>
                <a:solidFill>
                  <a:srgbClr val="D8DFE7"/>
                </a:solidFill>
                <a:prstDash val="dash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1200" b="1">
                    <a:solidFill>
                      <a:schemeClr val="bg1">
                        <a:lumMod val="50000"/>
                      </a:schemeClr>
                    </a:solidFill>
                    <a:latin typeface="思源黑体 CN VF Normal" panose="020B0200000000000000" charset="-122"/>
                    <a:ea typeface="思源黑体 CN VF Normal" panose="020B0200000000000000" charset="-122"/>
                  </a:rPr>
                  <a:t>语音小</a:t>
                </a:r>
                <a:r>
                  <a:rPr lang="zh-CN" altLang="en-US" sz="1200" b="1">
                    <a:solidFill>
                      <a:schemeClr val="bg1">
                        <a:lumMod val="50000"/>
                      </a:schemeClr>
                    </a:solidFill>
                    <a:latin typeface="思源黑体 CN VF Normal" panose="020B0200000000000000" charset="-122"/>
                    <a:ea typeface="思源黑体 CN VF Normal" panose="020B0200000000000000" charset="-122"/>
                  </a:rPr>
                  <a:t>助理</a:t>
                </a:r>
                <a:endParaRPr lang="zh-CN" altLang="en-US" sz="900" b="1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algn="ctr"/>
                <a:endParaRPr lang="zh-CN" altLang="en-US" sz="900" b="1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algn="ctr"/>
                <a:endParaRPr lang="zh-CN" altLang="en-US" sz="900" b="1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algn="ctr"/>
                <a:endParaRPr lang="zh-CN" altLang="en-US" sz="900" b="1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algn="ctr"/>
                <a:endParaRPr lang="zh-CN" altLang="en-US" sz="900" b="1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algn="ctr"/>
                <a:endParaRPr lang="zh-CN" altLang="en-US" sz="90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algn="ctr"/>
                <a:endParaRPr lang="zh-CN" altLang="en-US" sz="90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algn="ctr"/>
                <a:endParaRPr lang="zh-CN" altLang="en-US" sz="90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algn="ctr"/>
                <a:endParaRPr lang="zh-CN" altLang="en-US" sz="90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algn="ctr"/>
                <a:endParaRPr lang="zh-CN" altLang="en-US" sz="90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algn="ctr"/>
                <a:endParaRPr lang="zh-CN" altLang="en-US" sz="90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algn="ctr"/>
                <a:endParaRPr lang="zh-CN" altLang="en-US" sz="90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algn="ctr"/>
                <a:endParaRPr lang="zh-CN" altLang="en-US" sz="90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algn="ctr"/>
                <a:endParaRPr lang="zh-CN" altLang="en-US" sz="90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0" name="圆角矩形 49"/>
              <p:cNvSpPr/>
              <p:nvPr/>
            </p:nvSpPr>
            <p:spPr>
              <a:xfrm>
                <a:off x="2485" y="1079"/>
                <a:ext cx="1240" cy="418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D8DFE7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1000" b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黑体 CN VF Normal" panose="020B0200000000000000" charset="-122"/>
                    <a:ea typeface="思源黑体 CN VF Normal" panose="020B0200000000000000" charset="-122"/>
                  </a:rPr>
                  <a:t>自动朗读</a:t>
                </a:r>
                <a:endParaRPr lang="zh-CN" altLang="en-US"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VF Normal" panose="020B0200000000000000" charset="-122"/>
                  <a:ea typeface="思源黑体 CN VF Normal" panose="020B0200000000000000" charset="-122"/>
                </a:endParaRPr>
              </a:p>
            </p:txBody>
          </p:sp>
          <p:sp>
            <p:nvSpPr>
              <p:cNvPr id="51" name="圆角矩形 50"/>
              <p:cNvSpPr/>
              <p:nvPr/>
            </p:nvSpPr>
            <p:spPr>
              <a:xfrm>
                <a:off x="2484" y="1584"/>
                <a:ext cx="1240" cy="417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D8DFE7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1000" b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黑体 CN VF Normal" panose="020B0200000000000000" charset="-122"/>
                    <a:ea typeface="思源黑体 CN VF Normal" panose="020B0200000000000000" charset="-122"/>
                  </a:rPr>
                  <a:t>人声模拟</a:t>
                </a:r>
                <a:endParaRPr lang="zh-CN" altLang="en-US"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VF Normal" panose="020B0200000000000000" charset="-122"/>
                  <a:ea typeface="思源黑体 CN VF Normal" panose="020B0200000000000000" charset="-122"/>
                </a:endParaRPr>
              </a:p>
            </p:txBody>
          </p:sp>
          <p:sp>
            <p:nvSpPr>
              <p:cNvPr id="53" name="圆角矩形 52"/>
              <p:cNvSpPr/>
              <p:nvPr/>
            </p:nvSpPr>
            <p:spPr>
              <a:xfrm>
                <a:off x="2484" y="2105"/>
                <a:ext cx="1240" cy="417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D8DFE7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000" b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黑体 CN VF Normal" panose="020B0200000000000000" charset="-122"/>
                    <a:ea typeface="思源黑体 CN VF Normal" panose="020B0200000000000000" charset="-122"/>
                  </a:rPr>
                  <a:t>...</a:t>
                </a:r>
                <a:endParaRPr lang="en-US" altLang="zh-CN"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VF Normal" panose="020B0200000000000000" charset="-122"/>
                  <a:ea typeface="思源黑体 CN VF Normal" panose="020B0200000000000000" charset="-122"/>
                </a:endParaRPr>
              </a:p>
            </p:txBody>
          </p:sp>
        </p:grpSp>
        <p:grpSp>
          <p:nvGrpSpPr>
            <p:cNvPr id="54" name="组合 53"/>
            <p:cNvGrpSpPr/>
            <p:nvPr/>
          </p:nvGrpSpPr>
          <p:grpSpPr>
            <a:xfrm>
              <a:off x="10959" y="390"/>
              <a:ext cx="2290" cy="3303"/>
              <a:chOff x="2332" y="642"/>
              <a:chExt cx="1711" cy="2490"/>
            </a:xfrm>
          </p:grpSpPr>
          <p:sp>
            <p:nvSpPr>
              <p:cNvPr id="55" name="矩形 54"/>
              <p:cNvSpPr/>
              <p:nvPr/>
            </p:nvSpPr>
            <p:spPr>
              <a:xfrm>
                <a:off x="2332" y="642"/>
                <a:ext cx="1711" cy="2490"/>
              </a:xfrm>
              <a:prstGeom prst="rect">
                <a:avLst/>
              </a:prstGeom>
              <a:solidFill>
                <a:srgbClr val="F3F7FF"/>
              </a:solidFill>
              <a:ln>
                <a:solidFill>
                  <a:srgbClr val="D8DFE7"/>
                </a:solidFill>
                <a:prstDash val="dash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1200" b="1">
                    <a:solidFill>
                      <a:schemeClr val="bg1">
                        <a:lumMod val="50000"/>
                      </a:schemeClr>
                    </a:solidFill>
                    <a:latin typeface="思源黑体 CN VF Normal" panose="020B0200000000000000" charset="-122"/>
                    <a:ea typeface="思源黑体 CN VF Normal" panose="020B0200000000000000" charset="-122"/>
                  </a:rPr>
                  <a:t>知识库</a:t>
                </a:r>
                <a:r>
                  <a:rPr lang="zh-CN" altLang="en-US" sz="1200" b="1">
                    <a:solidFill>
                      <a:schemeClr val="bg1">
                        <a:lumMod val="50000"/>
                      </a:schemeClr>
                    </a:solidFill>
                    <a:latin typeface="思源黑体 CN VF Normal" panose="020B0200000000000000" charset="-122"/>
                    <a:ea typeface="思源黑体 CN VF Normal" panose="020B0200000000000000" charset="-122"/>
                  </a:rPr>
                  <a:t>问答</a:t>
                </a:r>
                <a:endParaRPr lang="zh-CN" altLang="en-US" sz="900" b="1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algn="ctr"/>
                <a:endParaRPr lang="zh-CN" altLang="en-US" sz="900" b="1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algn="ctr"/>
                <a:endParaRPr lang="zh-CN" altLang="en-US" sz="900" b="1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algn="ctr"/>
                <a:endParaRPr lang="zh-CN" altLang="en-US" sz="900" b="1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algn="ctr"/>
                <a:endParaRPr lang="zh-CN" altLang="en-US" sz="900" b="1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algn="ctr"/>
                <a:endParaRPr lang="zh-CN" altLang="en-US" sz="90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algn="ctr"/>
                <a:endParaRPr lang="zh-CN" altLang="en-US" sz="90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algn="ctr"/>
                <a:endParaRPr lang="zh-CN" altLang="en-US" sz="90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algn="ctr"/>
                <a:endParaRPr lang="zh-CN" altLang="en-US" sz="90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algn="ctr"/>
                <a:endParaRPr lang="zh-CN" altLang="en-US" sz="90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algn="ctr"/>
                <a:endParaRPr lang="zh-CN" altLang="en-US" sz="90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algn="ctr"/>
                <a:endParaRPr lang="zh-CN" altLang="en-US" sz="90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algn="ctr"/>
                <a:endParaRPr lang="zh-CN" altLang="en-US" sz="90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algn="ctr"/>
                <a:endParaRPr lang="zh-CN" altLang="en-US" sz="90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6" name="圆角矩形 55"/>
              <p:cNvSpPr/>
              <p:nvPr/>
            </p:nvSpPr>
            <p:spPr>
              <a:xfrm>
                <a:off x="2543" y="1071"/>
                <a:ext cx="1240" cy="417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D8DFE7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1000" b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黑体 CN VF Normal" panose="020B0200000000000000" charset="-122"/>
                    <a:ea typeface="思源黑体 CN VF Normal" panose="020B0200000000000000" charset="-122"/>
                  </a:rPr>
                  <a:t>解决方案推荐</a:t>
                </a:r>
                <a:endParaRPr lang="zh-CN" altLang="en-US"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VF Normal" panose="020B0200000000000000" charset="-122"/>
                  <a:ea typeface="思源黑体 CN VF Normal" panose="020B0200000000000000" charset="-122"/>
                </a:endParaRPr>
              </a:p>
            </p:txBody>
          </p:sp>
          <p:sp>
            <p:nvSpPr>
              <p:cNvPr id="57" name="圆角矩形 56"/>
              <p:cNvSpPr/>
              <p:nvPr/>
            </p:nvSpPr>
            <p:spPr>
              <a:xfrm>
                <a:off x="2543" y="1584"/>
                <a:ext cx="1240" cy="417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D8DFE7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1000" b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黑体 CN VF Normal" panose="020B0200000000000000" charset="-122"/>
                    <a:ea typeface="思源黑体 CN VF Normal" panose="020B0200000000000000" charset="-122"/>
                  </a:rPr>
                  <a:t>故障处理建议</a:t>
                </a:r>
                <a:endParaRPr lang="zh-CN" altLang="en-US"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VF Normal" panose="020B0200000000000000" charset="-122"/>
                  <a:ea typeface="思源黑体 CN VF Normal" panose="020B0200000000000000" charset="-122"/>
                </a:endParaRPr>
              </a:p>
            </p:txBody>
          </p:sp>
          <p:sp>
            <p:nvSpPr>
              <p:cNvPr id="58" name="圆角矩形 57"/>
              <p:cNvSpPr/>
              <p:nvPr/>
            </p:nvSpPr>
            <p:spPr>
              <a:xfrm>
                <a:off x="2543" y="2097"/>
                <a:ext cx="1240" cy="417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D8DFE7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1000" b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黑体 CN VF Normal" panose="020B0200000000000000" charset="-122"/>
                    <a:ea typeface="思源黑体 CN VF Normal" panose="020B0200000000000000" charset="-122"/>
                  </a:rPr>
                  <a:t>运维知识检索</a:t>
                </a:r>
                <a:endParaRPr lang="zh-CN" altLang="en-US"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VF Normal" panose="020B0200000000000000" charset="-122"/>
                  <a:ea typeface="思源黑体 CN VF Normal" panose="020B0200000000000000" charset="-122"/>
                </a:endParaRPr>
              </a:p>
            </p:txBody>
          </p:sp>
          <p:sp>
            <p:nvSpPr>
              <p:cNvPr id="59" name="圆角矩形 58"/>
              <p:cNvSpPr/>
              <p:nvPr/>
            </p:nvSpPr>
            <p:spPr>
              <a:xfrm>
                <a:off x="2543" y="2610"/>
                <a:ext cx="1240" cy="417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D8DFE7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000" b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黑体 CN VF Normal" panose="020B0200000000000000" charset="-122"/>
                    <a:ea typeface="思源黑体 CN VF Normal" panose="020B0200000000000000" charset="-122"/>
                  </a:rPr>
                  <a:t>...</a:t>
                </a:r>
                <a:endParaRPr lang="en-US" altLang="zh-CN"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VF Normal" panose="020B0200000000000000" charset="-122"/>
                  <a:ea typeface="思源黑体 CN VF Normal" panose="020B0200000000000000" charset="-122"/>
                </a:endParaRPr>
              </a:p>
            </p:txBody>
          </p:sp>
        </p:grpSp>
        <p:grpSp>
          <p:nvGrpSpPr>
            <p:cNvPr id="60" name="组合 59"/>
            <p:cNvGrpSpPr/>
            <p:nvPr/>
          </p:nvGrpSpPr>
          <p:grpSpPr>
            <a:xfrm>
              <a:off x="13562" y="389"/>
              <a:ext cx="2536" cy="3303"/>
              <a:chOff x="2234" y="649"/>
              <a:chExt cx="1895" cy="2490"/>
            </a:xfrm>
          </p:grpSpPr>
          <p:sp>
            <p:nvSpPr>
              <p:cNvPr id="61" name="矩形 60"/>
              <p:cNvSpPr/>
              <p:nvPr/>
            </p:nvSpPr>
            <p:spPr>
              <a:xfrm>
                <a:off x="2234" y="649"/>
                <a:ext cx="1895" cy="2490"/>
              </a:xfrm>
              <a:prstGeom prst="rect">
                <a:avLst/>
              </a:prstGeom>
              <a:solidFill>
                <a:srgbClr val="F3F7FF"/>
              </a:solidFill>
              <a:ln>
                <a:solidFill>
                  <a:srgbClr val="D8DFE7"/>
                </a:solidFill>
                <a:prstDash val="dash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1200" b="1">
                    <a:solidFill>
                      <a:schemeClr val="bg1">
                        <a:lumMod val="50000"/>
                      </a:schemeClr>
                    </a:solidFill>
                    <a:latin typeface="思源黑体 CN VF Normal" panose="020B0200000000000000" charset="-122"/>
                    <a:ea typeface="思源黑体 CN VF Normal" panose="020B0200000000000000" charset="-122"/>
                  </a:rPr>
                  <a:t>互联网</a:t>
                </a:r>
                <a:r>
                  <a:rPr lang="zh-CN" altLang="en-US" sz="1200" b="1">
                    <a:solidFill>
                      <a:schemeClr val="bg1">
                        <a:lumMod val="50000"/>
                      </a:schemeClr>
                    </a:solidFill>
                    <a:latin typeface="思源黑体 CN VF Normal" panose="020B0200000000000000" charset="-122"/>
                    <a:ea typeface="思源黑体 CN VF Normal" panose="020B0200000000000000" charset="-122"/>
                  </a:rPr>
                  <a:t>知识</a:t>
                </a:r>
                <a:endParaRPr lang="zh-CN" altLang="en-US" sz="900" b="1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algn="ctr"/>
                <a:endParaRPr lang="zh-CN" altLang="en-US" sz="900" b="1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algn="ctr"/>
                <a:endParaRPr lang="zh-CN" altLang="en-US" sz="900" b="1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algn="ctr"/>
                <a:endParaRPr lang="zh-CN" altLang="en-US" sz="900" b="1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algn="ctr"/>
                <a:endParaRPr lang="zh-CN" altLang="en-US" sz="900" b="1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algn="ctr"/>
                <a:endParaRPr lang="zh-CN" altLang="en-US" sz="90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algn="ctr"/>
                <a:endParaRPr lang="zh-CN" altLang="en-US" sz="90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algn="ctr"/>
                <a:endParaRPr lang="zh-CN" altLang="en-US" sz="90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algn="ctr"/>
                <a:endParaRPr lang="zh-CN" altLang="en-US" sz="90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algn="ctr"/>
                <a:endParaRPr lang="zh-CN" altLang="en-US" sz="90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algn="ctr"/>
                <a:endParaRPr lang="zh-CN" altLang="en-US" sz="90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algn="ctr"/>
                <a:endParaRPr lang="zh-CN" altLang="en-US" sz="90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algn="ctr"/>
                <a:endParaRPr lang="zh-CN" altLang="en-US" sz="90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algn="ctr"/>
                <a:endParaRPr lang="zh-CN" altLang="en-US" sz="90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62" name="圆角矩形 61"/>
              <p:cNvSpPr/>
              <p:nvPr/>
            </p:nvSpPr>
            <p:spPr>
              <a:xfrm>
                <a:off x="2543" y="1079"/>
                <a:ext cx="1240" cy="417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D8DFE7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1000" b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黑体 CN VF Normal" panose="020B0200000000000000" charset="-122"/>
                    <a:ea typeface="思源黑体 CN VF Normal" panose="020B0200000000000000" charset="-122"/>
                  </a:rPr>
                  <a:t>文本处理</a:t>
                </a:r>
                <a:endParaRPr lang="zh-CN" altLang="en-US"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VF Normal" panose="020B0200000000000000" charset="-122"/>
                  <a:ea typeface="思源黑体 CN VF Normal" panose="020B0200000000000000" charset="-122"/>
                </a:endParaRPr>
              </a:p>
            </p:txBody>
          </p:sp>
          <p:sp>
            <p:nvSpPr>
              <p:cNvPr id="63" name="圆角矩形 62"/>
              <p:cNvSpPr/>
              <p:nvPr/>
            </p:nvSpPr>
            <p:spPr>
              <a:xfrm>
                <a:off x="2543" y="1584"/>
                <a:ext cx="1240" cy="417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D8DFE7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1000" b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黑体 CN VF Normal" panose="020B0200000000000000" charset="-122"/>
                    <a:ea typeface="思源黑体 CN VF Normal" panose="020B0200000000000000" charset="-122"/>
                  </a:rPr>
                  <a:t>高效搜索</a:t>
                </a:r>
                <a:endParaRPr lang="zh-CN" altLang="en-US"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VF Normal" panose="020B0200000000000000" charset="-122"/>
                  <a:ea typeface="思源黑体 CN VF Normal" panose="020B0200000000000000" charset="-122"/>
                </a:endParaRPr>
              </a:p>
            </p:txBody>
          </p:sp>
          <p:sp>
            <p:nvSpPr>
              <p:cNvPr id="64" name="圆角矩形 63"/>
              <p:cNvSpPr/>
              <p:nvPr/>
            </p:nvSpPr>
            <p:spPr>
              <a:xfrm>
                <a:off x="2543" y="2097"/>
                <a:ext cx="1240" cy="417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D8DFE7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1000" b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黑体 CN VF Normal" panose="020B0200000000000000" charset="-122"/>
                    <a:ea typeface="思源黑体 CN VF Normal" panose="020B0200000000000000" charset="-122"/>
                  </a:rPr>
                  <a:t>语音交流</a:t>
                </a:r>
                <a:endParaRPr lang="zh-CN" altLang="en-US"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VF Normal" panose="020B0200000000000000" charset="-122"/>
                  <a:ea typeface="思源黑体 CN VF Normal" panose="020B0200000000000000" charset="-122"/>
                </a:endParaRPr>
              </a:p>
            </p:txBody>
          </p:sp>
          <p:sp>
            <p:nvSpPr>
              <p:cNvPr id="65" name="圆角矩形 64"/>
              <p:cNvSpPr/>
              <p:nvPr/>
            </p:nvSpPr>
            <p:spPr>
              <a:xfrm>
                <a:off x="2543" y="2610"/>
                <a:ext cx="1240" cy="417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D8DFE7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000" b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黑体 CN VF Normal" panose="020B0200000000000000" charset="-122"/>
                    <a:ea typeface="思源黑体 CN VF Normal" panose="020B0200000000000000" charset="-122"/>
                  </a:rPr>
                  <a:t>...</a:t>
                </a:r>
                <a:endParaRPr lang="en-US" altLang="zh-CN"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VF Normal" panose="020B0200000000000000" charset="-122"/>
                  <a:ea typeface="思源黑体 CN VF Normal" panose="020B0200000000000000" charset="-122"/>
                </a:endParaRPr>
              </a:p>
            </p:txBody>
          </p:sp>
        </p:grpSp>
      </p:grpSp>
      <p:grpSp>
        <p:nvGrpSpPr>
          <p:cNvPr id="82" name="组合 81"/>
          <p:cNvGrpSpPr/>
          <p:nvPr/>
        </p:nvGrpSpPr>
        <p:grpSpPr>
          <a:xfrm>
            <a:off x="1779905" y="2668905"/>
            <a:ext cx="10106660" cy="673735"/>
            <a:chOff x="2764" y="4201"/>
            <a:chExt cx="15964" cy="914"/>
          </a:xfrm>
        </p:grpSpPr>
        <p:sp>
          <p:nvSpPr>
            <p:cNvPr id="66" name="矩形 65"/>
            <p:cNvSpPr/>
            <p:nvPr/>
          </p:nvSpPr>
          <p:spPr>
            <a:xfrm>
              <a:off x="2764" y="4201"/>
              <a:ext cx="15964" cy="914"/>
            </a:xfrm>
            <a:prstGeom prst="rect">
              <a:avLst/>
            </a:prstGeom>
            <a:solidFill>
              <a:srgbClr val="FEFEFE"/>
            </a:solidFill>
            <a:ln>
              <a:solidFill>
                <a:srgbClr val="E0E3EA"/>
              </a:solidFill>
              <a:prstDash val="sys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7" name="圆角矩形 66"/>
            <p:cNvSpPr/>
            <p:nvPr/>
          </p:nvSpPr>
          <p:spPr>
            <a:xfrm>
              <a:off x="3122" y="4361"/>
              <a:ext cx="2759" cy="579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DBDDE8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VF Normal" panose="020B0200000000000000" charset="-122"/>
                  <a:ea typeface="思源黑体 CN VF Normal" panose="020B0200000000000000" charset="-122"/>
                  <a:cs typeface="思源黑体 CN VF Normal" panose="020B0200000000000000" charset="-122"/>
                </a:rPr>
                <a:t>监控</a:t>
              </a:r>
              <a:r>
                <a:rPr lang="en-US" altLang="zh-CN"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VF Normal" panose="020B0200000000000000" charset="-122"/>
                  <a:ea typeface="思源黑体 CN VF Normal" panose="020B0200000000000000" charset="-122"/>
                  <a:cs typeface="思源黑体 CN VF Normal" panose="020B0200000000000000" charset="-122"/>
                </a:rPr>
                <a:t>Agent</a:t>
              </a:r>
              <a:endParaRPr lang="en-US" altLang="zh-CN" sz="1000" b="1">
                <a:solidFill>
                  <a:schemeClr val="tx1">
                    <a:lumMod val="65000"/>
                    <a:lumOff val="35000"/>
                  </a:schemeClr>
                </a:solidFill>
                <a:latin typeface="思源黑体 CN VF Normal" panose="020B0200000000000000" charset="-122"/>
                <a:ea typeface="思源黑体 CN VF Normal" panose="020B0200000000000000" charset="-122"/>
                <a:cs typeface="思源黑体 CN VF Normal" panose="020B0200000000000000" charset="-122"/>
              </a:endParaRPr>
            </a:p>
          </p:txBody>
        </p:sp>
        <p:sp>
          <p:nvSpPr>
            <p:cNvPr id="68" name="圆角矩形 67"/>
            <p:cNvSpPr/>
            <p:nvPr/>
          </p:nvSpPr>
          <p:spPr>
            <a:xfrm>
              <a:off x="6353" y="4361"/>
              <a:ext cx="2759" cy="579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DBDDE8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VF Normal" panose="020B0200000000000000" charset="-122"/>
                  <a:ea typeface="思源黑体 CN VF Normal" panose="020B0200000000000000" charset="-122"/>
                  <a:cs typeface="思源黑体 CN VF Normal" panose="020B0200000000000000" charset="-122"/>
                </a:rPr>
                <a:t>资产</a:t>
              </a:r>
              <a:r>
                <a:rPr lang="en-US" altLang="zh-CN"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VF Normal" panose="020B0200000000000000" charset="-122"/>
                  <a:ea typeface="思源黑体 CN VF Normal" panose="020B0200000000000000" charset="-122"/>
                  <a:cs typeface="思源黑体 CN VF Normal" panose="020B0200000000000000" charset="-122"/>
                </a:rPr>
                <a:t>Agent</a:t>
              </a:r>
              <a:endParaRPr lang="en-US" altLang="zh-CN" sz="1000" b="1">
                <a:solidFill>
                  <a:schemeClr val="tx1">
                    <a:lumMod val="65000"/>
                    <a:lumOff val="35000"/>
                  </a:schemeClr>
                </a:solidFill>
                <a:latin typeface="思源黑体 CN VF Normal" panose="020B0200000000000000" charset="-122"/>
                <a:ea typeface="思源黑体 CN VF Normal" panose="020B0200000000000000" charset="-122"/>
                <a:cs typeface="思源黑体 CN VF Normal" panose="020B0200000000000000" charset="-122"/>
              </a:endParaRPr>
            </a:p>
          </p:txBody>
        </p:sp>
        <p:sp>
          <p:nvSpPr>
            <p:cNvPr id="69" name="圆角矩形 68"/>
            <p:cNvSpPr/>
            <p:nvPr/>
          </p:nvSpPr>
          <p:spPr>
            <a:xfrm>
              <a:off x="9502" y="4361"/>
              <a:ext cx="2759" cy="579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DBDDE8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VF Normal" panose="020B0200000000000000" charset="-122"/>
                  <a:ea typeface="思源黑体 CN VF Normal" panose="020B0200000000000000" charset="-122"/>
                  <a:cs typeface="思源黑体 CN VF Normal" panose="020B0200000000000000" charset="-122"/>
                </a:rPr>
                <a:t>运维知识</a:t>
              </a:r>
              <a:r>
                <a:rPr lang="en-US" altLang="zh-CN"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VF Normal" panose="020B0200000000000000" charset="-122"/>
                  <a:ea typeface="思源黑体 CN VF Normal" panose="020B0200000000000000" charset="-122"/>
                  <a:cs typeface="思源黑体 CN VF Normal" panose="020B0200000000000000" charset="-122"/>
                </a:rPr>
                <a:t>Agent</a:t>
              </a:r>
              <a:endParaRPr lang="en-US" altLang="zh-CN" sz="1000" b="1">
                <a:solidFill>
                  <a:schemeClr val="tx1">
                    <a:lumMod val="65000"/>
                    <a:lumOff val="35000"/>
                  </a:schemeClr>
                </a:solidFill>
                <a:latin typeface="思源黑体 CN VF Normal" panose="020B0200000000000000" charset="-122"/>
                <a:ea typeface="思源黑体 CN VF Normal" panose="020B0200000000000000" charset="-122"/>
                <a:cs typeface="思源黑体 CN VF Normal" panose="020B0200000000000000" charset="-122"/>
              </a:endParaRPr>
            </a:p>
          </p:txBody>
        </p:sp>
        <p:sp>
          <p:nvSpPr>
            <p:cNvPr id="70" name="圆角矩形 69"/>
            <p:cNvSpPr/>
            <p:nvPr/>
          </p:nvSpPr>
          <p:spPr>
            <a:xfrm>
              <a:off x="12592" y="4361"/>
              <a:ext cx="2759" cy="579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DBDDE8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VF Normal" panose="020B0200000000000000" charset="-122"/>
                  <a:ea typeface="思源黑体 CN VF Normal" panose="020B0200000000000000" charset="-122"/>
                  <a:cs typeface="思源黑体 CN VF Normal" panose="020B0200000000000000" charset="-122"/>
                </a:rPr>
                <a:t>互联网</a:t>
              </a:r>
              <a:r>
                <a:rPr lang="en-US" altLang="zh-CN"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VF Normal" panose="020B0200000000000000" charset="-122"/>
                  <a:ea typeface="思源黑体 CN VF Normal" panose="020B0200000000000000" charset="-122"/>
                  <a:cs typeface="思源黑体 CN VF Normal" panose="020B0200000000000000" charset="-122"/>
                </a:rPr>
                <a:t>Agent</a:t>
              </a:r>
              <a:endParaRPr lang="en-US" altLang="zh-CN" sz="1000" b="1">
                <a:solidFill>
                  <a:schemeClr val="tx1">
                    <a:lumMod val="65000"/>
                    <a:lumOff val="35000"/>
                  </a:schemeClr>
                </a:solidFill>
                <a:latin typeface="思源黑体 CN VF Normal" panose="020B0200000000000000" charset="-122"/>
                <a:ea typeface="思源黑体 CN VF Normal" panose="020B0200000000000000" charset="-122"/>
                <a:cs typeface="思源黑体 CN VF Normal" panose="020B0200000000000000" charset="-122"/>
              </a:endParaRPr>
            </a:p>
          </p:txBody>
        </p:sp>
        <p:sp>
          <p:nvSpPr>
            <p:cNvPr id="71" name="圆角矩形 70"/>
            <p:cNvSpPr/>
            <p:nvPr/>
          </p:nvSpPr>
          <p:spPr>
            <a:xfrm>
              <a:off x="15695" y="4361"/>
              <a:ext cx="2759" cy="579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DBDDE8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VF Normal" panose="020B0200000000000000" charset="-122"/>
                  <a:ea typeface="思源黑体 CN VF Normal" panose="020B0200000000000000" charset="-122"/>
                  <a:cs typeface="思源黑体 CN VF Normal" panose="020B0200000000000000" charset="-122"/>
                </a:rPr>
                <a:t>语音助手</a:t>
              </a:r>
              <a:r>
                <a:rPr lang="en-US" altLang="zh-CN"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VF Normal" panose="020B0200000000000000" charset="-122"/>
                  <a:ea typeface="思源黑体 CN VF Normal" panose="020B0200000000000000" charset="-122"/>
                  <a:cs typeface="思源黑体 CN VF Normal" panose="020B0200000000000000" charset="-122"/>
                </a:rPr>
                <a:t>Agent</a:t>
              </a:r>
              <a:endParaRPr lang="en-US" altLang="zh-CN" sz="1000" b="1">
                <a:solidFill>
                  <a:schemeClr val="tx1">
                    <a:lumMod val="65000"/>
                    <a:lumOff val="35000"/>
                  </a:schemeClr>
                </a:solidFill>
                <a:latin typeface="思源黑体 CN VF Normal" panose="020B0200000000000000" charset="-122"/>
                <a:ea typeface="思源黑体 CN VF Normal" panose="020B0200000000000000" charset="-122"/>
                <a:cs typeface="思源黑体 CN VF Normal" panose="020B0200000000000000" charset="-122"/>
              </a:endParaRPr>
            </a:p>
          </p:txBody>
        </p:sp>
      </p:grpSp>
      <p:grpSp>
        <p:nvGrpSpPr>
          <p:cNvPr id="84" name="组合 83"/>
          <p:cNvGrpSpPr/>
          <p:nvPr/>
        </p:nvGrpSpPr>
        <p:grpSpPr>
          <a:xfrm>
            <a:off x="1779905" y="3429000"/>
            <a:ext cx="10105390" cy="1443355"/>
            <a:chOff x="2764" y="5529"/>
            <a:chExt cx="16035" cy="2063"/>
          </a:xfrm>
          <a:solidFill>
            <a:srgbClr val="FEFEFE"/>
          </a:solidFill>
        </p:grpSpPr>
        <p:sp>
          <p:nvSpPr>
            <p:cNvPr id="72" name="矩形 71"/>
            <p:cNvSpPr/>
            <p:nvPr/>
          </p:nvSpPr>
          <p:spPr>
            <a:xfrm>
              <a:off x="2764" y="5529"/>
              <a:ext cx="16035" cy="2063"/>
            </a:xfrm>
            <a:prstGeom prst="rect">
              <a:avLst/>
            </a:prstGeom>
            <a:grpFill/>
            <a:ln>
              <a:solidFill>
                <a:srgbClr val="E0E3EA"/>
              </a:solidFill>
              <a:prstDash val="sys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76" name="组合 75"/>
            <p:cNvGrpSpPr/>
            <p:nvPr/>
          </p:nvGrpSpPr>
          <p:grpSpPr>
            <a:xfrm>
              <a:off x="3124" y="6701"/>
              <a:ext cx="6328" cy="579"/>
              <a:chOff x="3124" y="6701"/>
              <a:chExt cx="6328" cy="579"/>
            </a:xfrm>
            <a:grpFill/>
          </p:grpSpPr>
          <p:sp>
            <p:nvSpPr>
              <p:cNvPr id="73" name="圆角矩形 72"/>
              <p:cNvSpPr/>
              <p:nvPr/>
            </p:nvSpPr>
            <p:spPr>
              <a:xfrm>
                <a:off x="3124" y="6701"/>
                <a:ext cx="1918" cy="579"/>
              </a:xfrm>
              <a:prstGeom prst="roundRect">
                <a:avLst/>
              </a:prstGeom>
              <a:grpFill/>
              <a:ln>
                <a:solidFill>
                  <a:srgbClr val="DBDDE8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1000" b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黑体 CN VF Normal" panose="020B0200000000000000" charset="-122"/>
                    <a:ea typeface="思源黑体 CN VF Normal" panose="020B0200000000000000" charset="-122"/>
                    <a:cs typeface="思源黑体 CN VF Normal" panose="020B0200000000000000" charset="-122"/>
                  </a:rPr>
                  <a:t>文本分段</a:t>
                </a:r>
                <a:endParaRPr lang="zh-CN" altLang="en-US"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VF Normal" panose="020B0200000000000000" charset="-122"/>
                  <a:ea typeface="思源黑体 CN VF Normal" panose="020B0200000000000000" charset="-122"/>
                  <a:cs typeface="思源黑体 CN VF Normal" panose="020B0200000000000000" charset="-122"/>
                </a:endParaRPr>
              </a:p>
            </p:txBody>
          </p:sp>
          <p:sp>
            <p:nvSpPr>
              <p:cNvPr id="74" name="圆角矩形 73"/>
              <p:cNvSpPr/>
              <p:nvPr/>
            </p:nvSpPr>
            <p:spPr>
              <a:xfrm>
                <a:off x="7534" y="6701"/>
                <a:ext cx="1918" cy="579"/>
              </a:xfrm>
              <a:prstGeom prst="roundRect">
                <a:avLst/>
              </a:prstGeom>
              <a:grpFill/>
              <a:ln>
                <a:solidFill>
                  <a:srgbClr val="DBDDE8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1000" b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黑体 CN VF Normal" panose="020B0200000000000000" charset="-122"/>
                    <a:ea typeface="思源黑体 CN VF Normal" panose="020B0200000000000000" charset="-122"/>
                    <a:cs typeface="思源黑体 CN VF Normal" panose="020B0200000000000000" charset="-122"/>
                  </a:rPr>
                  <a:t>语义关联</a:t>
                </a:r>
                <a:endParaRPr lang="zh-CN" altLang="en-US"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VF Normal" panose="020B0200000000000000" charset="-122"/>
                  <a:ea typeface="思源黑体 CN VF Normal" panose="020B0200000000000000" charset="-122"/>
                  <a:cs typeface="思源黑体 CN VF Normal" panose="020B0200000000000000" charset="-122"/>
                </a:endParaRPr>
              </a:p>
            </p:txBody>
          </p:sp>
          <p:sp>
            <p:nvSpPr>
              <p:cNvPr id="75" name="圆角矩形 74"/>
              <p:cNvSpPr/>
              <p:nvPr/>
            </p:nvSpPr>
            <p:spPr>
              <a:xfrm>
                <a:off x="5279" y="6701"/>
                <a:ext cx="1918" cy="579"/>
              </a:xfrm>
              <a:prstGeom prst="roundRect">
                <a:avLst/>
              </a:prstGeom>
              <a:grpFill/>
              <a:ln>
                <a:solidFill>
                  <a:srgbClr val="DBDDE8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000" b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黑体 CN VF Normal" panose="020B0200000000000000" charset="-122"/>
                    <a:ea typeface="思源黑体 CN VF Normal" panose="020B0200000000000000" charset="-122"/>
                    <a:cs typeface="思源黑体 CN VF Normal" panose="020B0200000000000000" charset="-122"/>
                  </a:rPr>
                  <a:t>QA</a:t>
                </a:r>
                <a:r>
                  <a:rPr lang="zh-CN" altLang="en-US" sz="1000" b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黑体 CN VF Normal" panose="020B0200000000000000" charset="-122"/>
                    <a:ea typeface="思源黑体 CN VF Normal" panose="020B0200000000000000" charset="-122"/>
                    <a:cs typeface="思源黑体 CN VF Normal" panose="020B0200000000000000" charset="-122"/>
                  </a:rPr>
                  <a:t>拆分</a:t>
                </a:r>
                <a:endParaRPr lang="zh-CN" altLang="en-US"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VF Normal" panose="020B0200000000000000" charset="-122"/>
                  <a:ea typeface="思源黑体 CN VF Normal" panose="020B0200000000000000" charset="-122"/>
                  <a:cs typeface="思源黑体 CN VF Normal" panose="020B0200000000000000" charset="-122"/>
                </a:endParaRPr>
              </a:p>
            </p:txBody>
          </p:sp>
        </p:grpSp>
        <p:grpSp>
          <p:nvGrpSpPr>
            <p:cNvPr id="77" name="组合 76"/>
            <p:cNvGrpSpPr/>
            <p:nvPr/>
          </p:nvGrpSpPr>
          <p:grpSpPr>
            <a:xfrm>
              <a:off x="12276" y="6701"/>
              <a:ext cx="6178" cy="578"/>
              <a:chOff x="3161" y="6561"/>
              <a:chExt cx="6178" cy="578"/>
            </a:xfrm>
            <a:grpFill/>
          </p:grpSpPr>
          <p:sp>
            <p:nvSpPr>
              <p:cNvPr id="78" name="圆角矩形 77"/>
              <p:cNvSpPr/>
              <p:nvPr/>
            </p:nvSpPr>
            <p:spPr>
              <a:xfrm>
                <a:off x="3161" y="6561"/>
                <a:ext cx="1918" cy="579"/>
              </a:xfrm>
              <a:prstGeom prst="roundRect">
                <a:avLst/>
              </a:prstGeom>
              <a:grpFill/>
              <a:ln>
                <a:solidFill>
                  <a:srgbClr val="DBDDE8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1000" b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黑体 CN VF Normal" panose="020B0200000000000000" charset="-122"/>
                    <a:ea typeface="思源黑体 CN VF Normal" panose="020B0200000000000000" charset="-122"/>
                    <a:cs typeface="思源黑体 CN VF Normal" panose="020B0200000000000000" charset="-122"/>
                  </a:rPr>
                  <a:t>文本分段</a:t>
                </a:r>
                <a:endParaRPr lang="zh-CN" altLang="en-US"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VF Normal" panose="020B0200000000000000" charset="-122"/>
                  <a:ea typeface="思源黑体 CN VF Normal" panose="020B0200000000000000" charset="-122"/>
                  <a:cs typeface="思源黑体 CN VF Normal" panose="020B0200000000000000" charset="-122"/>
                </a:endParaRPr>
              </a:p>
            </p:txBody>
          </p:sp>
          <p:sp>
            <p:nvSpPr>
              <p:cNvPr id="79" name="圆角矩形 78"/>
              <p:cNvSpPr/>
              <p:nvPr/>
            </p:nvSpPr>
            <p:spPr>
              <a:xfrm>
                <a:off x="7421" y="6561"/>
                <a:ext cx="1918" cy="579"/>
              </a:xfrm>
              <a:prstGeom prst="roundRect">
                <a:avLst/>
              </a:prstGeom>
              <a:grpFill/>
              <a:ln>
                <a:solidFill>
                  <a:srgbClr val="DBDDE8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1000" b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黑体 CN VF Normal" panose="020B0200000000000000" charset="-122"/>
                    <a:ea typeface="思源黑体 CN VF Normal" panose="020B0200000000000000" charset="-122"/>
                    <a:cs typeface="思源黑体 CN VF Normal" panose="020B0200000000000000" charset="-122"/>
                  </a:rPr>
                  <a:t>文本向量化</a:t>
                </a:r>
                <a:endParaRPr lang="zh-CN" altLang="en-US"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VF Normal" panose="020B0200000000000000" charset="-122"/>
                  <a:ea typeface="思源黑体 CN VF Normal" panose="020B0200000000000000" charset="-122"/>
                  <a:cs typeface="思源黑体 CN VF Normal" panose="020B0200000000000000" charset="-122"/>
                </a:endParaRPr>
              </a:p>
            </p:txBody>
          </p:sp>
          <p:sp>
            <p:nvSpPr>
              <p:cNvPr id="80" name="圆角矩形 79"/>
              <p:cNvSpPr/>
              <p:nvPr/>
            </p:nvSpPr>
            <p:spPr>
              <a:xfrm>
                <a:off x="5279" y="6561"/>
                <a:ext cx="1918" cy="579"/>
              </a:xfrm>
              <a:prstGeom prst="roundRect">
                <a:avLst/>
              </a:prstGeom>
              <a:grpFill/>
              <a:ln>
                <a:solidFill>
                  <a:srgbClr val="DBDDE8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000" b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黑体 CN VF Normal" panose="020B0200000000000000" charset="-122"/>
                    <a:ea typeface="思源黑体 CN VF Normal" panose="020B0200000000000000" charset="-122"/>
                    <a:cs typeface="思源黑体 CN VF Normal" panose="020B0200000000000000" charset="-122"/>
                  </a:rPr>
                  <a:t>QA</a:t>
                </a:r>
                <a:r>
                  <a:rPr lang="zh-CN" altLang="en-US" sz="1000" b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黑体 CN VF Normal" panose="020B0200000000000000" charset="-122"/>
                    <a:ea typeface="思源黑体 CN VF Normal" panose="020B0200000000000000" charset="-122"/>
                    <a:cs typeface="思源黑体 CN VF Normal" panose="020B0200000000000000" charset="-122"/>
                  </a:rPr>
                  <a:t>拆分</a:t>
                </a:r>
                <a:endParaRPr lang="zh-CN" altLang="en-US"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VF Normal" panose="020B0200000000000000" charset="-122"/>
                  <a:ea typeface="思源黑体 CN VF Normal" panose="020B0200000000000000" charset="-122"/>
                  <a:cs typeface="思源黑体 CN VF Normal" panose="020B0200000000000000" charset="-122"/>
                </a:endParaRPr>
              </a:p>
            </p:txBody>
          </p:sp>
        </p:grpSp>
        <p:sp>
          <p:nvSpPr>
            <p:cNvPr id="81" name="圆柱形 80"/>
            <p:cNvSpPr/>
            <p:nvPr/>
          </p:nvSpPr>
          <p:spPr>
            <a:xfrm>
              <a:off x="9827" y="5781"/>
              <a:ext cx="1909" cy="1499"/>
            </a:xfrm>
            <a:prstGeom prst="can">
              <a:avLst/>
            </a:prstGeom>
            <a:solidFill>
              <a:srgbClr val="DDE2F8"/>
            </a:solidFill>
            <a:ln>
              <a:solidFill>
                <a:srgbClr val="DDE2F6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 anchorCtr="1">
              <a:noAutofit/>
            </a:bodyPr>
            <a:p>
              <a:pPr algn="ctr"/>
              <a:r>
                <a:rPr lang="en-US" altLang="zh-CN" sz="12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VF Normal" panose="020B0200000000000000" charset="-122"/>
                  <a:ea typeface="思源黑体 CN VF Normal" panose="020B0200000000000000" charset="-122"/>
                </a:rPr>
                <a:t>  </a:t>
              </a:r>
              <a:r>
                <a:rPr lang="zh-CN" altLang="en-US" sz="12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VF Normal" panose="020B0200000000000000" charset="-122"/>
                  <a:ea typeface="思源黑体 CN VF Normal" panose="020B0200000000000000" charset="-122"/>
                </a:rPr>
                <a:t>训练集</a:t>
              </a:r>
              <a:endParaRPr lang="zh-CN" altLang="en-US" sz="1200" b="1">
                <a:solidFill>
                  <a:schemeClr val="tx1">
                    <a:lumMod val="65000"/>
                    <a:lumOff val="35000"/>
                  </a:schemeClr>
                </a:solidFill>
                <a:latin typeface="思源黑体 CN VF Normal" panose="020B0200000000000000" charset="-122"/>
                <a:ea typeface="思源黑体 CN VF Normal" panose="020B0200000000000000" charset="-122"/>
              </a:endParaRPr>
            </a:p>
            <a:p>
              <a:pPr algn="ctr"/>
              <a:r>
                <a:rPr lang="zh-CN" altLang="en-US" sz="12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VF Normal" panose="020B0200000000000000" charset="-122"/>
                  <a:ea typeface="思源黑体 CN VF Normal" panose="020B0200000000000000" charset="-122"/>
                </a:rPr>
                <a:t>清洗、标注</a:t>
              </a:r>
              <a:r>
                <a:rPr lang="en-US" altLang="zh-CN" sz="1400" b="1">
                  <a:solidFill>
                    <a:schemeClr val="bg1">
                      <a:lumMod val="50000"/>
                    </a:schemeClr>
                  </a:solidFill>
                  <a:latin typeface="思源黑体 CN VF Normal" panose="020B0200000000000000" charset="-122"/>
                  <a:ea typeface="思源黑体 CN VF Normal" panose="020B0200000000000000" charset="-122"/>
                </a:rPr>
                <a:t>  </a:t>
              </a:r>
              <a:endParaRPr lang="zh-CN" altLang="en-US" sz="1400" b="1">
                <a:solidFill>
                  <a:schemeClr val="bg1">
                    <a:lumMod val="50000"/>
                  </a:schemeClr>
                </a:solidFill>
                <a:latin typeface="思源黑体 CN VF Normal" panose="020B0200000000000000" charset="-122"/>
                <a:ea typeface="思源黑体 CN VF Normal" panose="020B0200000000000000" charset="-122"/>
              </a:endParaRPr>
            </a:p>
          </p:txBody>
        </p:sp>
      </p:grpSp>
      <p:grpSp>
        <p:nvGrpSpPr>
          <p:cNvPr id="85" name="组合 84"/>
          <p:cNvGrpSpPr/>
          <p:nvPr/>
        </p:nvGrpSpPr>
        <p:grpSpPr>
          <a:xfrm>
            <a:off x="1780540" y="5785485"/>
            <a:ext cx="10106025" cy="730250"/>
            <a:chOff x="2764" y="4201"/>
            <a:chExt cx="15964" cy="914"/>
          </a:xfrm>
        </p:grpSpPr>
        <p:sp>
          <p:nvSpPr>
            <p:cNvPr id="86" name="矩形 85"/>
            <p:cNvSpPr/>
            <p:nvPr/>
          </p:nvSpPr>
          <p:spPr>
            <a:xfrm>
              <a:off x="2764" y="4201"/>
              <a:ext cx="15964" cy="914"/>
            </a:xfrm>
            <a:prstGeom prst="rect">
              <a:avLst/>
            </a:prstGeom>
            <a:solidFill>
              <a:srgbClr val="FEFEFE"/>
            </a:solidFill>
            <a:ln>
              <a:solidFill>
                <a:srgbClr val="E0E3EA"/>
              </a:solidFill>
              <a:prstDash val="sys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7" name="圆角矩形 86"/>
            <p:cNvSpPr/>
            <p:nvPr/>
          </p:nvSpPr>
          <p:spPr>
            <a:xfrm>
              <a:off x="3051" y="4361"/>
              <a:ext cx="2236" cy="579"/>
            </a:xfrm>
            <a:prstGeom prst="roundRect">
              <a:avLst/>
            </a:prstGeom>
            <a:solidFill>
              <a:srgbClr val="E9EDF9"/>
            </a:solidFill>
            <a:ln>
              <a:solidFill>
                <a:srgbClr val="C0C7E3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VF Normal" panose="020B0200000000000000" charset="-122"/>
                  <a:ea typeface="思源黑体 CN VF Normal" panose="020B0200000000000000" charset="-122"/>
                  <a:cs typeface="思源黑体 CN VF Normal" panose="020B0200000000000000" charset="-122"/>
                </a:rPr>
                <a:t>数据库</a:t>
              </a:r>
              <a:endParaRPr lang="zh-CN" altLang="en-US" sz="1000" b="1">
                <a:solidFill>
                  <a:schemeClr val="tx1">
                    <a:lumMod val="65000"/>
                    <a:lumOff val="35000"/>
                  </a:schemeClr>
                </a:solidFill>
                <a:latin typeface="思源黑体 CN VF Normal" panose="020B0200000000000000" charset="-122"/>
                <a:ea typeface="思源黑体 CN VF Normal" panose="020B0200000000000000" charset="-122"/>
                <a:cs typeface="思源黑体 CN VF Normal" panose="020B0200000000000000" charset="-122"/>
              </a:endParaRPr>
            </a:p>
          </p:txBody>
        </p:sp>
        <p:sp>
          <p:nvSpPr>
            <p:cNvPr id="88" name="圆角矩形 87"/>
            <p:cNvSpPr/>
            <p:nvPr/>
          </p:nvSpPr>
          <p:spPr>
            <a:xfrm>
              <a:off x="5592" y="4361"/>
              <a:ext cx="2238" cy="579"/>
            </a:xfrm>
            <a:prstGeom prst="roundRect">
              <a:avLst/>
            </a:prstGeom>
            <a:solidFill>
              <a:srgbClr val="E9EDF9"/>
            </a:solidFill>
            <a:ln>
              <a:solidFill>
                <a:srgbClr val="C0C7E3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VF Normal" panose="020B0200000000000000" charset="-122"/>
                  <a:ea typeface="思源黑体 CN VF Normal" panose="020B0200000000000000" charset="-122"/>
                  <a:cs typeface="思源黑体 CN VF Normal" panose="020B0200000000000000" charset="-122"/>
                </a:rPr>
                <a:t>数据仓</a:t>
              </a:r>
              <a:endParaRPr lang="zh-CN" altLang="en-US" sz="1000" b="1">
                <a:solidFill>
                  <a:schemeClr val="tx1">
                    <a:lumMod val="65000"/>
                    <a:lumOff val="35000"/>
                  </a:schemeClr>
                </a:solidFill>
                <a:latin typeface="思源黑体 CN VF Normal" panose="020B0200000000000000" charset="-122"/>
                <a:ea typeface="思源黑体 CN VF Normal" panose="020B0200000000000000" charset="-122"/>
                <a:cs typeface="思源黑体 CN VF Normal" panose="020B0200000000000000" charset="-122"/>
              </a:endParaRPr>
            </a:p>
          </p:txBody>
        </p:sp>
        <p:sp>
          <p:nvSpPr>
            <p:cNvPr id="89" name="圆角矩形 88"/>
            <p:cNvSpPr/>
            <p:nvPr/>
          </p:nvSpPr>
          <p:spPr>
            <a:xfrm>
              <a:off x="8206" y="4361"/>
              <a:ext cx="2239" cy="579"/>
            </a:xfrm>
            <a:prstGeom prst="roundRect">
              <a:avLst/>
            </a:prstGeom>
            <a:solidFill>
              <a:srgbClr val="E9EDF9"/>
            </a:solidFill>
            <a:ln>
              <a:solidFill>
                <a:srgbClr val="C0C7E3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VF Normal" panose="020B0200000000000000" charset="-122"/>
                  <a:ea typeface="思源黑体 CN VF Normal" panose="020B0200000000000000" charset="-122"/>
                  <a:cs typeface="思源黑体 CN VF Normal" panose="020B0200000000000000" charset="-122"/>
                </a:rPr>
                <a:t>结构化数据</a:t>
              </a:r>
              <a:endParaRPr lang="zh-CN" altLang="en-US" sz="1000" b="1">
                <a:solidFill>
                  <a:schemeClr val="tx1">
                    <a:lumMod val="65000"/>
                    <a:lumOff val="35000"/>
                  </a:schemeClr>
                </a:solidFill>
                <a:latin typeface="思源黑体 CN VF Normal" panose="020B0200000000000000" charset="-122"/>
                <a:ea typeface="思源黑体 CN VF Normal" panose="020B0200000000000000" charset="-122"/>
                <a:cs typeface="思源黑体 CN VF Normal" panose="020B0200000000000000" charset="-122"/>
              </a:endParaRPr>
            </a:p>
          </p:txBody>
        </p:sp>
        <p:sp>
          <p:nvSpPr>
            <p:cNvPr id="90" name="圆角矩形 89"/>
            <p:cNvSpPr/>
            <p:nvPr/>
          </p:nvSpPr>
          <p:spPr>
            <a:xfrm>
              <a:off x="10865" y="4361"/>
              <a:ext cx="2237" cy="579"/>
            </a:xfrm>
            <a:prstGeom prst="roundRect">
              <a:avLst/>
            </a:prstGeom>
            <a:solidFill>
              <a:srgbClr val="E9EDF9"/>
            </a:solidFill>
            <a:ln>
              <a:solidFill>
                <a:srgbClr val="C0C7E3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VF Normal" panose="020B0200000000000000" charset="-122"/>
                  <a:ea typeface="思源黑体 CN VF Normal" panose="020B0200000000000000" charset="-122"/>
                  <a:cs typeface="思源黑体 CN VF Normal" panose="020B0200000000000000" charset="-122"/>
                </a:rPr>
                <a:t>非结构化数据</a:t>
              </a:r>
              <a:endParaRPr lang="zh-CN" altLang="en-US" sz="1000" b="1">
                <a:solidFill>
                  <a:schemeClr val="tx1">
                    <a:lumMod val="65000"/>
                    <a:lumOff val="35000"/>
                  </a:schemeClr>
                </a:solidFill>
                <a:latin typeface="思源黑体 CN VF Normal" panose="020B0200000000000000" charset="-122"/>
                <a:ea typeface="思源黑体 CN VF Normal" panose="020B0200000000000000" charset="-122"/>
                <a:cs typeface="思源黑体 CN VF Normal" panose="020B0200000000000000" charset="-122"/>
              </a:endParaRPr>
            </a:p>
          </p:txBody>
        </p:sp>
        <p:sp>
          <p:nvSpPr>
            <p:cNvPr id="91" name="圆角矩形 90"/>
            <p:cNvSpPr/>
            <p:nvPr/>
          </p:nvSpPr>
          <p:spPr>
            <a:xfrm>
              <a:off x="13458" y="4361"/>
              <a:ext cx="2236" cy="579"/>
            </a:xfrm>
            <a:prstGeom prst="roundRect">
              <a:avLst/>
            </a:prstGeom>
            <a:solidFill>
              <a:srgbClr val="E9EDF9"/>
            </a:solidFill>
            <a:ln>
              <a:solidFill>
                <a:srgbClr val="C0C7E3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VF Normal" panose="020B0200000000000000" charset="-122"/>
                  <a:ea typeface="思源黑体 CN VF Normal" panose="020B0200000000000000" charset="-122"/>
                  <a:cs typeface="思源黑体 CN VF Normal" panose="020B0200000000000000" charset="-122"/>
                </a:rPr>
                <a:t>文件存储</a:t>
              </a:r>
              <a:endParaRPr lang="zh-CN" altLang="en-US" sz="1000" b="1">
                <a:solidFill>
                  <a:schemeClr val="tx1">
                    <a:lumMod val="65000"/>
                    <a:lumOff val="35000"/>
                  </a:schemeClr>
                </a:solidFill>
                <a:latin typeface="思源黑体 CN VF Normal" panose="020B0200000000000000" charset="-122"/>
                <a:ea typeface="思源黑体 CN VF Normal" panose="020B0200000000000000" charset="-122"/>
                <a:cs typeface="思源黑体 CN VF Normal" panose="020B0200000000000000" charset="-122"/>
              </a:endParaRPr>
            </a:p>
          </p:txBody>
        </p:sp>
      </p:grpSp>
      <p:grpSp>
        <p:nvGrpSpPr>
          <p:cNvPr id="93" name="组合 92"/>
          <p:cNvGrpSpPr/>
          <p:nvPr/>
        </p:nvGrpSpPr>
        <p:grpSpPr>
          <a:xfrm>
            <a:off x="1779905" y="5038725"/>
            <a:ext cx="10106025" cy="631190"/>
            <a:chOff x="2764" y="4201"/>
            <a:chExt cx="15964" cy="914"/>
          </a:xfrm>
        </p:grpSpPr>
        <p:sp>
          <p:nvSpPr>
            <p:cNvPr id="94" name="矩形 93"/>
            <p:cNvSpPr/>
            <p:nvPr/>
          </p:nvSpPr>
          <p:spPr>
            <a:xfrm>
              <a:off x="2764" y="4201"/>
              <a:ext cx="15964" cy="914"/>
            </a:xfrm>
            <a:prstGeom prst="rect">
              <a:avLst/>
            </a:prstGeom>
            <a:solidFill>
              <a:srgbClr val="FEFEFE"/>
            </a:solidFill>
            <a:ln>
              <a:solidFill>
                <a:srgbClr val="E0E3EA"/>
              </a:solidFill>
              <a:prstDash val="sys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5" name="圆角矩形 94"/>
            <p:cNvSpPr/>
            <p:nvPr/>
          </p:nvSpPr>
          <p:spPr>
            <a:xfrm>
              <a:off x="3122" y="4361"/>
              <a:ext cx="2237" cy="578"/>
            </a:xfrm>
            <a:prstGeom prst="roundRect">
              <a:avLst/>
            </a:prstGeom>
            <a:solidFill>
              <a:srgbClr val="E9EDF9"/>
            </a:solidFill>
            <a:ln>
              <a:solidFill>
                <a:srgbClr val="C0C7E3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VF Normal" panose="020B0200000000000000" charset="-122"/>
                  <a:ea typeface="思源黑体 CN VF Normal" panose="020B0200000000000000" charset="-122"/>
                  <a:cs typeface="思源黑体 CN VF Normal" panose="020B0200000000000000" charset="-122"/>
                </a:rPr>
                <a:t>监控平台</a:t>
              </a:r>
              <a:endParaRPr lang="zh-CN" altLang="en-US" sz="1000" b="1">
                <a:solidFill>
                  <a:schemeClr val="tx1">
                    <a:lumMod val="65000"/>
                    <a:lumOff val="35000"/>
                  </a:schemeClr>
                </a:solidFill>
                <a:latin typeface="思源黑体 CN VF Normal" panose="020B0200000000000000" charset="-122"/>
                <a:ea typeface="思源黑体 CN VF Normal" panose="020B0200000000000000" charset="-122"/>
                <a:cs typeface="思源黑体 CN VF Normal" panose="020B0200000000000000" charset="-122"/>
              </a:endParaRPr>
            </a:p>
          </p:txBody>
        </p:sp>
      </p:grpSp>
      <p:sp>
        <p:nvSpPr>
          <p:cNvPr id="105" name="圆角矩形 104"/>
          <p:cNvSpPr/>
          <p:nvPr/>
        </p:nvSpPr>
        <p:spPr>
          <a:xfrm>
            <a:off x="3571240" y="5149850"/>
            <a:ext cx="1416050" cy="398780"/>
          </a:xfrm>
          <a:prstGeom prst="roundRect">
            <a:avLst/>
          </a:prstGeom>
          <a:solidFill>
            <a:srgbClr val="E9EDF9"/>
          </a:solidFill>
          <a:ln>
            <a:solidFill>
              <a:srgbClr val="C0C7E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>
                    <a:lumMod val="65000"/>
                    <a:lumOff val="35000"/>
                  </a:schemeClr>
                </a:solidFill>
                <a:latin typeface="思源黑体 CN VF Normal" panose="020B0200000000000000" charset="-122"/>
                <a:ea typeface="思源黑体 CN VF Normal" panose="020B0200000000000000" charset="-122"/>
                <a:cs typeface="思源黑体 CN VF Normal" panose="020B0200000000000000" charset="-122"/>
              </a:rPr>
              <a:t>CMDB</a:t>
            </a:r>
            <a:endParaRPr lang="en-US" altLang="zh-CN" sz="1000" b="1">
              <a:solidFill>
                <a:schemeClr val="tx1">
                  <a:lumMod val="65000"/>
                  <a:lumOff val="35000"/>
                </a:schemeClr>
              </a:solidFill>
              <a:latin typeface="思源黑体 CN VF Normal" panose="020B0200000000000000" charset="-122"/>
              <a:ea typeface="思源黑体 CN VF Normal" panose="020B0200000000000000" charset="-122"/>
              <a:cs typeface="思源黑体 CN VF Normal" panose="020B0200000000000000" charset="-122"/>
            </a:endParaRPr>
          </a:p>
        </p:txBody>
      </p:sp>
      <p:sp>
        <p:nvSpPr>
          <p:cNvPr id="106" name="圆角矩形 105"/>
          <p:cNvSpPr/>
          <p:nvPr/>
        </p:nvSpPr>
        <p:spPr>
          <a:xfrm>
            <a:off x="5225415" y="5148580"/>
            <a:ext cx="1417955" cy="400050"/>
          </a:xfrm>
          <a:prstGeom prst="roundRect">
            <a:avLst/>
          </a:prstGeom>
          <a:solidFill>
            <a:srgbClr val="E9EDF9"/>
          </a:solidFill>
          <a:ln>
            <a:solidFill>
              <a:srgbClr val="C0C7E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>
                    <a:lumMod val="65000"/>
                    <a:lumOff val="35000"/>
                  </a:schemeClr>
                </a:solidFill>
                <a:latin typeface="思源黑体 CN VF Normal" panose="020B0200000000000000" charset="-122"/>
                <a:ea typeface="思源黑体 CN VF Normal" panose="020B0200000000000000" charset="-122"/>
                <a:cs typeface="思源黑体 CN VF Normal" panose="020B0200000000000000" charset="-122"/>
              </a:rPr>
              <a:t>工单系统</a:t>
            </a:r>
            <a:endParaRPr lang="zh-CN" altLang="en-US" sz="1000" b="1">
              <a:solidFill>
                <a:schemeClr val="tx1">
                  <a:lumMod val="65000"/>
                  <a:lumOff val="35000"/>
                </a:schemeClr>
              </a:solidFill>
              <a:latin typeface="思源黑体 CN VF Normal" panose="020B0200000000000000" charset="-122"/>
              <a:ea typeface="思源黑体 CN VF Normal" panose="020B0200000000000000" charset="-122"/>
              <a:cs typeface="思源黑体 CN VF Normal" panose="020B0200000000000000" charset="-122"/>
            </a:endParaRPr>
          </a:p>
        </p:txBody>
      </p:sp>
      <p:sp>
        <p:nvSpPr>
          <p:cNvPr id="107" name="圆角矩形 106"/>
          <p:cNvSpPr/>
          <p:nvPr/>
        </p:nvSpPr>
        <p:spPr>
          <a:xfrm>
            <a:off x="6909435" y="5150485"/>
            <a:ext cx="1416050" cy="398145"/>
          </a:xfrm>
          <a:prstGeom prst="roundRect">
            <a:avLst/>
          </a:prstGeom>
          <a:solidFill>
            <a:srgbClr val="E9EDF9"/>
          </a:solidFill>
          <a:ln>
            <a:solidFill>
              <a:srgbClr val="C0C7E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>
                    <a:lumMod val="65000"/>
                    <a:lumOff val="35000"/>
                  </a:schemeClr>
                </a:solidFill>
                <a:latin typeface="思源黑体 CN VF Normal" panose="020B0200000000000000" charset="-122"/>
                <a:ea typeface="思源黑体 CN VF Normal" panose="020B0200000000000000" charset="-122"/>
                <a:cs typeface="思源黑体 CN VF Normal" panose="020B0200000000000000" charset="-122"/>
              </a:rPr>
              <a:t>网络系统</a:t>
            </a:r>
            <a:endParaRPr lang="zh-CN" altLang="en-US" sz="1000" b="1">
              <a:solidFill>
                <a:schemeClr val="tx1">
                  <a:lumMod val="65000"/>
                  <a:lumOff val="35000"/>
                </a:schemeClr>
              </a:solidFill>
              <a:latin typeface="思源黑体 CN VF Normal" panose="020B0200000000000000" charset="-122"/>
              <a:ea typeface="思源黑体 CN VF Normal" panose="020B0200000000000000" charset="-122"/>
              <a:cs typeface="思源黑体 CN VF Normal" panose="020B0200000000000000" charset="-122"/>
            </a:endParaRPr>
          </a:p>
        </p:txBody>
      </p:sp>
      <p:sp>
        <p:nvSpPr>
          <p:cNvPr id="108" name="圆角矩形 107"/>
          <p:cNvSpPr/>
          <p:nvPr/>
        </p:nvSpPr>
        <p:spPr>
          <a:xfrm>
            <a:off x="8549640" y="5150485"/>
            <a:ext cx="1416050" cy="398145"/>
          </a:xfrm>
          <a:prstGeom prst="roundRect">
            <a:avLst/>
          </a:prstGeom>
          <a:solidFill>
            <a:srgbClr val="E9EDF9"/>
          </a:solidFill>
          <a:ln>
            <a:solidFill>
              <a:srgbClr val="C0C7E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>
                    <a:lumMod val="65000"/>
                    <a:lumOff val="35000"/>
                  </a:schemeClr>
                </a:solidFill>
                <a:latin typeface="思源黑体 CN VF Normal" panose="020B0200000000000000" charset="-122"/>
                <a:ea typeface="思源黑体 CN VF Normal" panose="020B0200000000000000" charset="-122"/>
                <a:cs typeface="思源黑体 CN VF Normal" panose="020B0200000000000000" charset="-122"/>
              </a:rPr>
              <a:t>互联网知识</a:t>
            </a:r>
            <a:endParaRPr lang="zh-CN" altLang="en-US" sz="1000" b="1">
              <a:solidFill>
                <a:schemeClr val="tx1">
                  <a:lumMod val="65000"/>
                  <a:lumOff val="35000"/>
                </a:schemeClr>
              </a:solidFill>
              <a:latin typeface="思源黑体 CN VF Normal" panose="020B0200000000000000" charset="-122"/>
              <a:ea typeface="思源黑体 CN VF Normal" panose="020B0200000000000000" charset="-122"/>
              <a:cs typeface="思源黑体 CN VF Normal" panose="020B0200000000000000" charset="-122"/>
            </a:endParaRPr>
          </a:p>
        </p:txBody>
      </p:sp>
      <p:sp>
        <p:nvSpPr>
          <p:cNvPr id="109" name="圆角矩形 108"/>
          <p:cNvSpPr/>
          <p:nvPr/>
        </p:nvSpPr>
        <p:spPr>
          <a:xfrm>
            <a:off x="10297160" y="5149850"/>
            <a:ext cx="1421130" cy="399415"/>
          </a:xfrm>
          <a:prstGeom prst="roundRect">
            <a:avLst/>
          </a:prstGeom>
          <a:solidFill>
            <a:srgbClr val="E9EDF9"/>
          </a:solidFill>
          <a:ln>
            <a:solidFill>
              <a:srgbClr val="C0C7E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>
                    <a:lumMod val="65000"/>
                    <a:lumOff val="35000"/>
                  </a:schemeClr>
                </a:solidFill>
                <a:latin typeface="思源黑体 CN VF Normal" panose="020B0200000000000000" charset="-122"/>
                <a:ea typeface="思源黑体 CN VF Normal" panose="020B0200000000000000" charset="-122"/>
                <a:cs typeface="思源黑体 CN VF Normal" panose="020B0200000000000000" charset="-122"/>
              </a:rPr>
              <a:t>第三方系统</a:t>
            </a:r>
            <a:endParaRPr lang="zh-CN" altLang="en-US" sz="1000" b="1">
              <a:solidFill>
                <a:schemeClr val="tx1">
                  <a:lumMod val="65000"/>
                  <a:lumOff val="35000"/>
                </a:schemeClr>
              </a:solidFill>
              <a:latin typeface="思源黑体 CN VF Normal" panose="020B0200000000000000" charset="-122"/>
              <a:ea typeface="思源黑体 CN VF Normal" panose="020B0200000000000000" charset="-122"/>
              <a:cs typeface="思源黑体 CN VF Normal" panose="020B0200000000000000" charset="-122"/>
            </a:endParaRPr>
          </a:p>
        </p:txBody>
      </p:sp>
      <p:sp>
        <p:nvSpPr>
          <p:cNvPr id="110" name="圆角矩形 109"/>
          <p:cNvSpPr/>
          <p:nvPr/>
        </p:nvSpPr>
        <p:spPr>
          <a:xfrm>
            <a:off x="10297795" y="5942654"/>
            <a:ext cx="1419860" cy="440072"/>
          </a:xfrm>
          <a:prstGeom prst="roundRect">
            <a:avLst/>
          </a:prstGeom>
          <a:solidFill>
            <a:srgbClr val="E9EDF9"/>
          </a:solidFill>
          <a:ln>
            <a:solidFill>
              <a:srgbClr val="C0C7E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>
                    <a:lumMod val="65000"/>
                    <a:lumOff val="35000"/>
                  </a:schemeClr>
                </a:solidFill>
                <a:latin typeface="思源黑体 CN VF Normal" panose="020B0200000000000000" charset="-122"/>
                <a:ea typeface="思源黑体 CN VF Normal" panose="020B0200000000000000" charset="-122"/>
                <a:cs typeface="思源黑体 CN VF Normal" panose="020B0200000000000000" charset="-122"/>
              </a:rPr>
              <a:t>...</a:t>
            </a:r>
            <a:endParaRPr lang="en-US" altLang="zh-CN" sz="1000" b="1">
              <a:solidFill>
                <a:schemeClr val="tx1">
                  <a:lumMod val="65000"/>
                  <a:lumOff val="35000"/>
                </a:schemeClr>
              </a:solidFill>
              <a:latin typeface="思源黑体 CN VF Normal" panose="020B0200000000000000" charset="-122"/>
              <a:ea typeface="思源黑体 CN VF Normal" panose="020B0200000000000000" charset="-122"/>
              <a:cs typeface="思源黑体 CN VF Normal" panose="020B0200000000000000" charset="-122"/>
            </a:endParaRPr>
          </a:p>
        </p:txBody>
      </p:sp>
      <p:pic>
        <p:nvPicPr>
          <p:cNvPr id="111" name="图片 1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80385" y="3600450"/>
            <a:ext cx="1514475" cy="394970"/>
          </a:xfrm>
          <a:prstGeom prst="rect">
            <a:avLst/>
          </a:prstGeom>
          <a:ln>
            <a:noFill/>
          </a:ln>
        </p:spPr>
      </p:pic>
      <p:pic>
        <p:nvPicPr>
          <p:cNvPr id="112" name="图片 1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3840" y="3600450"/>
            <a:ext cx="1249045" cy="393700"/>
          </a:xfrm>
          <a:prstGeom prst="rect">
            <a:avLst/>
          </a:prstGeom>
        </p:spPr>
      </p:pic>
      <p:grpSp>
        <p:nvGrpSpPr>
          <p:cNvPr id="119" name="组合 118"/>
          <p:cNvGrpSpPr/>
          <p:nvPr/>
        </p:nvGrpSpPr>
        <p:grpSpPr>
          <a:xfrm>
            <a:off x="2681605" y="4919345"/>
            <a:ext cx="96520" cy="230505"/>
            <a:chOff x="4223" y="7747"/>
            <a:chExt cx="152" cy="363"/>
          </a:xfrm>
        </p:grpSpPr>
        <p:cxnSp>
          <p:nvCxnSpPr>
            <p:cNvPr id="114" name="直接箭头连接符 113"/>
            <p:cNvCxnSpPr/>
            <p:nvPr/>
          </p:nvCxnSpPr>
          <p:spPr>
            <a:xfrm flipH="1" flipV="1">
              <a:off x="4223" y="7747"/>
              <a:ext cx="2" cy="361"/>
            </a:xfrm>
            <a:prstGeom prst="straightConnector1">
              <a:avLst/>
            </a:prstGeom>
            <a:ln>
              <a:solidFill>
                <a:srgbClr val="C0C7E3"/>
              </a:solidFill>
              <a:headEnd type="none"/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17" name="直接箭头连接符 116"/>
            <p:cNvCxnSpPr/>
            <p:nvPr/>
          </p:nvCxnSpPr>
          <p:spPr>
            <a:xfrm flipH="1" flipV="1">
              <a:off x="4373" y="7750"/>
              <a:ext cx="2" cy="361"/>
            </a:xfrm>
            <a:prstGeom prst="straightConnector1">
              <a:avLst/>
            </a:prstGeom>
            <a:ln>
              <a:solidFill>
                <a:srgbClr val="C0C7E3"/>
              </a:solidFill>
              <a:headEnd type="none"/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120" name="组合 119"/>
          <p:cNvGrpSpPr/>
          <p:nvPr/>
        </p:nvGrpSpPr>
        <p:grpSpPr>
          <a:xfrm>
            <a:off x="4224655" y="4919345"/>
            <a:ext cx="96520" cy="230505"/>
            <a:chOff x="4223" y="7747"/>
            <a:chExt cx="152" cy="363"/>
          </a:xfrm>
        </p:grpSpPr>
        <p:cxnSp>
          <p:nvCxnSpPr>
            <p:cNvPr id="121" name="直接箭头连接符 120"/>
            <p:cNvCxnSpPr/>
            <p:nvPr/>
          </p:nvCxnSpPr>
          <p:spPr>
            <a:xfrm flipH="1" flipV="1">
              <a:off x="4223" y="7747"/>
              <a:ext cx="2" cy="361"/>
            </a:xfrm>
            <a:prstGeom prst="straightConnector1">
              <a:avLst/>
            </a:prstGeom>
            <a:ln>
              <a:solidFill>
                <a:srgbClr val="C0C7E3"/>
              </a:solidFill>
              <a:headEnd type="none"/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2" name="直接箭头连接符 121"/>
            <p:cNvCxnSpPr/>
            <p:nvPr/>
          </p:nvCxnSpPr>
          <p:spPr>
            <a:xfrm flipH="1" flipV="1">
              <a:off x="4373" y="7750"/>
              <a:ext cx="2" cy="361"/>
            </a:xfrm>
            <a:prstGeom prst="straightConnector1">
              <a:avLst/>
            </a:prstGeom>
            <a:ln>
              <a:solidFill>
                <a:srgbClr val="C0C7E3"/>
              </a:solidFill>
              <a:headEnd type="none"/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123" name="组合 122"/>
          <p:cNvGrpSpPr/>
          <p:nvPr/>
        </p:nvGrpSpPr>
        <p:grpSpPr>
          <a:xfrm>
            <a:off x="5898515" y="4919345"/>
            <a:ext cx="96520" cy="230505"/>
            <a:chOff x="4223" y="7747"/>
            <a:chExt cx="152" cy="363"/>
          </a:xfrm>
        </p:grpSpPr>
        <p:cxnSp>
          <p:nvCxnSpPr>
            <p:cNvPr id="124" name="直接箭头连接符 123"/>
            <p:cNvCxnSpPr/>
            <p:nvPr/>
          </p:nvCxnSpPr>
          <p:spPr>
            <a:xfrm flipH="1" flipV="1">
              <a:off x="4223" y="7747"/>
              <a:ext cx="2" cy="361"/>
            </a:xfrm>
            <a:prstGeom prst="straightConnector1">
              <a:avLst/>
            </a:prstGeom>
            <a:ln>
              <a:solidFill>
                <a:srgbClr val="C0C7E3"/>
              </a:solidFill>
              <a:headEnd type="none"/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5" name="直接箭头连接符 124"/>
            <p:cNvCxnSpPr/>
            <p:nvPr/>
          </p:nvCxnSpPr>
          <p:spPr>
            <a:xfrm flipH="1" flipV="1">
              <a:off x="4373" y="7750"/>
              <a:ext cx="2" cy="361"/>
            </a:xfrm>
            <a:prstGeom prst="straightConnector1">
              <a:avLst/>
            </a:prstGeom>
            <a:ln>
              <a:solidFill>
                <a:srgbClr val="C0C7E3"/>
              </a:solidFill>
              <a:headEnd type="none"/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126" name="组合 125"/>
          <p:cNvGrpSpPr/>
          <p:nvPr/>
        </p:nvGrpSpPr>
        <p:grpSpPr>
          <a:xfrm>
            <a:off x="7589520" y="4917440"/>
            <a:ext cx="96520" cy="230505"/>
            <a:chOff x="4223" y="7747"/>
            <a:chExt cx="152" cy="363"/>
          </a:xfrm>
        </p:grpSpPr>
        <p:cxnSp>
          <p:nvCxnSpPr>
            <p:cNvPr id="127" name="直接箭头连接符 126"/>
            <p:cNvCxnSpPr/>
            <p:nvPr/>
          </p:nvCxnSpPr>
          <p:spPr>
            <a:xfrm flipH="1" flipV="1">
              <a:off x="4223" y="7747"/>
              <a:ext cx="2" cy="361"/>
            </a:xfrm>
            <a:prstGeom prst="straightConnector1">
              <a:avLst/>
            </a:prstGeom>
            <a:ln>
              <a:solidFill>
                <a:srgbClr val="C0C7E3"/>
              </a:solidFill>
              <a:headEnd type="none"/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8" name="直接箭头连接符 127"/>
            <p:cNvCxnSpPr/>
            <p:nvPr/>
          </p:nvCxnSpPr>
          <p:spPr>
            <a:xfrm flipH="1" flipV="1">
              <a:off x="4373" y="7750"/>
              <a:ext cx="2" cy="361"/>
            </a:xfrm>
            <a:prstGeom prst="straightConnector1">
              <a:avLst/>
            </a:prstGeom>
            <a:ln>
              <a:solidFill>
                <a:srgbClr val="C0C7E3"/>
              </a:solidFill>
              <a:headEnd type="none"/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129" name="组合 128"/>
          <p:cNvGrpSpPr/>
          <p:nvPr/>
        </p:nvGrpSpPr>
        <p:grpSpPr>
          <a:xfrm>
            <a:off x="9215755" y="4919345"/>
            <a:ext cx="96520" cy="230505"/>
            <a:chOff x="4223" y="7747"/>
            <a:chExt cx="152" cy="363"/>
          </a:xfrm>
        </p:grpSpPr>
        <p:cxnSp>
          <p:nvCxnSpPr>
            <p:cNvPr id="130" name="直接箭头连接符 129"/>
            <p:cNvCxnSpPr/>
            <p:nvPr/>
          </p:nvCxnSpPr>
          <p:spPr>
            <a:xfrm flipH="1" flipV="1">
              <a:off x="4223" y="7747"/>
              <a:ext cx="2" cy="361"/>
            </a:xfrm>
            <a:prstGeom prst="straightConnector1">
              <a:avLst/>
            </a:prstGeom>
            <a:ln>
              <a:solidFill>
                <a:srgbClr val="C0C7E3"/>
              </a:solidFill>
              <a:headEnd type="none"/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1" name="直接箭头连接符 130"/>
            <p:cNvCxnSpPr/>
            <p:nvPr/>
          </p:nvCxnSpPr>
          <p:spPr>
            <a:xfrm flipH="1" flipV="1">
              <a:off x="4373" y="7750"/>
              <a:ext cx="2" cy="361"/>
            </a:xfrm>
            <a:prstGeom prst="straightConnector1">
              <a:avLst/>
            </a:prstGeom>
            <a:ln>
              <a:solidFill>
                <a:srgbClr val="C0C7E3"/>
              </a:solidFill>
              <a:headEnd type="none"/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132" name="组合 131"/>
          <p:cNvGrpSpPr/>
          <p:nvPr/>
        </p:nvGrpSpPr>
        <p:grpSpPr>
          <a:xfrm>
            <a:off x="10966450" y="4917440"/>
            <a:ext cx="96520" cy="230505"/>
            <a:chOff x="4223" y="7747"/>
            <a:chExt cx="152" cy="363"/>
          </a:xfrm>
        </p:grpSpPr>
        <p:cxnSp>
          <p:nvCxnSpPr>
            <p:cNvPr id="133" name="直接箭头连接符 132"/>
            <p:cNvCxnSpPr/>
            <p:nvPr/>
          </p:nvCxnSpPr>
          <p:spPr>
            <a:xfrm flipH="1" flipV="1">
              <a:off x="4223" y="7747"/>
              <a:ext cx="2" cy="361"/>
            </a:xfrm>
            <a:prstGeom prst="straightConnector1">
              <a:avLst/>
            </a:prstGeom>
            <a:ln>
              <a:solidFill>
                <a:srgbClr val="C0C7E3"/>
              </a:solidFill>
              <a:headEnd type="none"/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4" name="直接箭头连接符 133"/>
            <p:cNvCxnSpPr/>
            <p:nvPr/>
          </p:nvCxnSpPr>
          <p:spPr>
            <a:xfrm flipH="1" flipV="1">
              <a:off x="4373" y="7750"/>
              <a:ext cx="2" cy="361"/>
            </a:xfrm>
            <a:prstGeom prst="straightConnector1">
              <a:avLst/>
            </a:prstGeom>
            <a:ln>
              <a:solidFill>
                <a:srgbClr val="C0C7E3"/>
              </a:solidFill>
              <a:headEnd type="none"/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AICARD_INVALID" val="Invalid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285</Words>
  <Application>WPS 演示</Application>
  <PresentationFormat>宽屏</PresentationFormat>
  <Paragraphs>193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Wingdings</vt:lpstr>
      <vt:lpstr>思源黑体 CN VF Normal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。</cp:lastModifiedBy>
  <cp:revision>159</cp:revision>
  <dcterms:created xsi:type="dcterms:W3CDTF">2019-06-19T02:08:00Z</dcterms:created>
  <dcterms:modified xsi:type="dcterms:W3CDTF">2026-04-15T07:52:45Z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346D7176E991493A9BF31309FC560BB0_11</vt:lpwstr>
  </property>
</Properties>
</file>