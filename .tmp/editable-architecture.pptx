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7547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31716" y="4757298"/>
            <a:ext cx="1503844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00186" y="4757298"/>
            <a:ext cx="1503844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24373" y="4757298"/>
            <a:ext cx="1503844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85686" y="4757298"/>
            <a:ext cx="1497993" cy="667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2319" y="4763150"/>
            <a:ext cx="1503844" cy="6612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9740" y="4763150"/>
            <a:ext cx="1497993" cy="6612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98179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44290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6252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7254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71443" y="2527863"/>
            <a:ext cx="1819827" cy="4388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97389" y="5798872"/>
            <a:ext cx="1474587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36076" y="5798872"/>
            <a:ext cx="1474587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7740" y="5798872"/>
            <a:ext cx="1468735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9873" y="5798872"/>
            <a:ext cx="1468735" cy="473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43419" y="4997211"/>
            <a:ext cx="1480438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36076" y="4997211"/>
            <a:ext cx="1474587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71443" y="4997211"/>
            <a:ext cx="1474587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97389" y="4997211"/>
            <a:ext cx="1474587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7740" y="4997211"/>
            <a:ext cx="1468735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09873" y="4997211"/>
            <a:ext cx="1468735" cy="409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13114" y="4055114"/>
            <a:ext cx="1258080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4377" y="4055114"/>
            <a:ext cx="1258080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71443" y="4055114"/>
            <a:ext cx="1258080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2894" y="4055114"/>
            <a:ext cx="1252228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79656" y="4055114"/>
            <a:ext cx="1252228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93366" y="4055114"/>
            <a:ext cx="1252228" cy="415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076957" y="1351704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37302" y="1351704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71443" y="1351704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79568" y="1345853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37302" y="889433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71443" y="889433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076957" y="883581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57129" y="883581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7129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37302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79568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71443" y="427162"/>
            <a:ext cx="1094237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93544" y="1345853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93544" y="883581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082808" y="427162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93544" y="421310"/>
            <a:ext cx="1088385" cy="36864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57129" y="1345853"/>
            <a:ext cx="1094237" cy="3627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79568" y="889433"/>
            <a:ext cx="1094237" cy="3627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52059" y="122882"/>
            <a:ext cx="977206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资产自动盘点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95293" y="122882"/>
            <a:ext cx="825066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知识库问答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5339" y="122882"/>
            <a:ext cx="667075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智能巡检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87612" y="122882"/>
            <a:ext cx="667075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55575A"/>
                </a:solidFill>
                <a:latin typeface="Microsoft YaHei"/>
              </a:rPr>
              <a:t>应急处置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49786" y="128733"/>
            <a:ext cx="983058" cy="187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9" b="1">
                <a:solidFill>
                  <a:srgbClr val="55575A"/>
                </a:solidFill>
                <a:latin typeface="Microsoft YaHei"/>
              </a:rPr>
              <a:t>故障根因分析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3365" y="140436"/>
            <a:ext cx="971354" cy="169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5" b="1">
                <a:solidFill>
                  <a:srgbClr val="55575A"/>
                </a:solidFill>
                <a:latin typeface="Microsoft YaHei"/>
              </a:rPr>
              <a:t>运维数据分析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8129" y="526638"/>
            <a:ext cx="80751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资产变化趋势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8738" y="532489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搜索定位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8003" y="532489"/>
            <a:ext cx="532489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日常巡检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7738" y="538341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解决方案推荐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6127" y="538341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预案匹配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3583" y="544192"/>
            <a:ext cx="789957" cy="1404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6" b="1">
                <a:solidFill>
                  <a:srgbClr val="55575A"/>
                </a:solidFill>
                <a:latin typeface="Microsoft YaHei"/>
              </a:rPr>
              <a:t>告警数据统计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48738" y="988909"/>
            <a:ext cx="555895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指标关联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28129" y="988909"/>
            <a:ext cx="81921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资产关系分析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0448" y="988909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特巡特维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3464" y="988909"/>
            <a:ext cx="66707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自动化处置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11880" y="994761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监控指标获取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77738" y="994761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故障处理建议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1005" y="1029870"/>
            <a:ext cx="591005" cy="2223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35" b="1">
                <a:solidFill>
                  <a:srgbClr val="16A8C8"/>
                </a:solidFill>
                <a:latin typeface="Microsoft YaHei"/>
              </a:rPr>
              <a:t>应用层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2496" y="1433626"/>
            <a:ext cx="684629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合规性校验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1880" y="1445329"/>
            <a:ext cx="80751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监控类型统计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26300" y="1445329"/>
            <a:ext cx="550044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安全检查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48738" y="1451180"/>
            <a:ext cx="544192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异常调用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7738" y="1457032"/>
            <a:ext cx="813363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运维知识检索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46127" y="1457032"/>
            <a:ext cx="555895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复盘总结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7904" y="2586378"/>
            <a:ext cx="971354" cy="251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24" b="1">
                <a:solidFill>
                  <a:srgbClr val="16A8C8"/>
                </a:solidFill>
                <a:latin typeface="Microsoft YaHei"/>
              </a:rPr>
              <a:t>AI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69703" y="2662448"/>
            <a:ext cx="672926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资产Agent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33715" y="2674151"/>
            <a:ext cx="91869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日志分析Agent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674" y="2674151"/>
            <a:ext cx="930394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指标监控Agent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9006" y="2674151"/>
            <a:ext cx="930394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运维知识Agent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54598" y="2674151"/>
            <a:ext cx="918691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分析执行Agent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71017" y="3458257"/>
            <a:ext cx="766551" cy="2340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1" b="1">
                <a:solidFill>
                  <a:srgbClr val="55575A"/>
                </a:solidFill>
                <a:latin typeface="Microsoft YaHei"/>
              </a:rPr>
              <a:t>向量模型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92319" y="3475812"/>
            <a:ext cx="947948" cy="198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4" b="1">
                <a:solidFill>
                  <a:srgbClr val="55575A"/>
                </a:solidFill>
                <a:latin typeface="Microsoft YaHei"/>
              </a:rPr>
              <a:t>通用大模型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943" y="3803498"/>
            <a:ext cx="942097" cy="198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4" b="1">
                <a:solidFill>
                  <a:srgbClr val="16A8C8"/>
                </a:solidFill>
                <a:latin typeface="Microsoft YaHei"/>
              </a:rPr>
              <a:t>大模型底座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11711" y="4008302"/>
            <a:ext cx="813363" cy="1813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71" b="1">
                <a:solidFill>
                  <a:srgbClr val="55575A"/>
                </a:solidFill>
                <a:latin typeface="Microsoft YaHei"/>
              </a:rPr>
              <a:t>清洗、标注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16684" y="4177996"/>
            <a:ext cx="561747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文本分段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67865" y="4177996"/>
            <a:ext cx="503232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QA拆分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77392" y="4177996"/>
            <a:ext cx="497380" cy="17554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3" b="1">
                <a:solidFill>
                  <a:srgbClr val="55575A"/>
                </a:solidFill>
                <a:latin typeface="Microsoft YaHei"/>
              </a:rPr>
              <a:t>QA拆分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99839" y="4183848"/>
            <a:ext cx="684629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文本向量化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30749" y="4189699"/>
            <a:ext cx="555895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语义关联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55469" y="4189699"/>
            <a:ext cx="550044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文本分段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29621" y="5120093"/>
            <a:ext cx="702184" cy="1696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5" b="1">
                <a:solidFill>
                  <a:srgbClr val="55575A"/>
                </a:solidFill>
                <a:latin typeface="Microsoft YaHei"/>
              </a:rPr>
              <a:t>第三方系统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5418" y="5125945"/>
            <a:ext cx="532489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日志平台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24808" y="5125945"/>
            <a:ext cx="444716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CMDB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92496" y="5125945"/>
            <a:ext cx="561747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工单系统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59660" y="5125945"/>
            <a:ext cx="555895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网络系统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8308" y="5125945"/>
            <a:ext cx="550044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指标平台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0349" y="5553107"/>
            <a:ext cx="947948" cy="19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46" b="1">
                <a:solidFill>
                  <a:srgbClr val="16A8C8"/>
                </a:solidFill>
                <a:latin typeface="Microsoft YaHei"/>
              </a:rPr>
              <a:t>数据采集层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24808" y="5956863"/>
            <a:ext cx="433013" cy="16384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7" b="1">
                <a:solidFill>
                  <a:srgbClr val="55575A"/>
                </a:solidFill>
                <a:latin typeface="Microsoft YaHei"/>
              </a:rPr>
              <a:t>数据仓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33981" y="5956863"/>
            <a:ext cx="684629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结构化数据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74160" y="5956863"/>
            <a:ext cx="555895" cy="157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0" b="1">
                <a:solidFill>
                  <a:srgbClr val="55575A"/>
                </a:solidFill>
                <a:latin typeface="Microsoft YaHei"/>
              </a:rPr>
              <a:t>文件存储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075" y="5962715"/>
            <a:ext cx="813363" cy="152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2" b="1">
                <a:solidFill>
                  <a:srgbClr val="55575A"/>
                </a:solidFill>
                <a:latin typeface="Microsoft YaHei"/>
              </a:rPr>
              <a:t>非结构化数据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