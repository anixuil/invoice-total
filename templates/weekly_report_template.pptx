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6" r:id="rId3"/>
    <p:sldMasterId id="2147483664" r:id="rId4"/>
    <p:sldMasterId id="2147483672" r:id="rId5"/>
    <p:sldMasterId id="2147483680" r:id="rId6"/>
    <p:sldMasterId id="2147483688" r:id="rId7"/>
    <p:sldMasterId id="2147483696" r:id="rId8"/>
    <p:sldMasterId id="2147483704" r:id="rId9"/>
    <p:sldMasterId id="2147483712" r:id="rId10"/>
    <p:sldMasterId id="2147483720" r:id="rId11"/>
    <p:sldMasterId id="2147483728" r:id="rId12"/>
    <p:sldMasterId id="2147483736" r:id="rId13"/>
    <p:sldMasterId id="2147483744" r:id="rId14"/>
  </p:sldMasterIdLst>
  <p:notesMasterIdLst>
    <p:notesMasterId r:id="rId16"/>
  </p:notesMasterIdLst>
  <p:handoutMasterIdLst>
    <p:handoutMasterId r:id="rId33"/>
  </p:handoutMasterIdLst>
  <p:sldIdLst>
    <p:sldId id="1300" r:id="rId15"/>
    <p:sldId id="1319" r:id="rId17"/>
    <p:sldId id="1359" r:id="rId18"/>
    <p:sldId id="1383" r:id="rId19"/>
    <p:sldId id="1377" r:id="rId20"/>
    <p:sldId id="1379" r:id="rId21"/>
    <p:sldId id="1380" r:id="rId22"/>
    <p:sldId id="1381" r:id="rId23"/>
    <p:sldId id="1378" r:id="rId24"/>
    <p:sldId id="1382" r:id="rId25"/>
    <p:sldId id="1371" r:id="rId26"/>
    <p:sldId id="1372" r:id="rId27"/>
    <p:sldId id="1373" r:id="rId28"/>
    <p:sldId id="1374" r:id="rId29"/>
    <p:sldId id="1375" r:id="rId30"/>
    <p:sldId id="1376" r:id="rId31"/>
    <p:sldId id="1312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4ADA"/>
    <a:srgbClr val="003D95"/>
    <a:srgbClr val="0E45CB"/>
    <a:srgbClr val="2853CC"/>
    <a:srgbClr val="E3E6E9"/>
    <a:srgbClr val="DE0515"/>
    <a:srgbClr val="2A72F5"/>
    <a:srgbClr val="557AC3"/>
    <a:srgbClr val="063385"/>
    <a:srgbClr val="0A3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8" autoAdjust="0"/>
    <p:restoredTop sz="96182" autoAdjust="0"/>
  </p:normalViewPr>
  <p:slideViewPr>
    <p:cSldViewPr snapToGrid="0" showGuides="1">
      <p:cViewPr varScale="1">
        <p:scale>
          <a:sx n="85" d="100"/>
          <a:sy n="85" d="100"/>
        </p:scale>
        <p:origin x="88" y="292"/>
      </p:cViewPr>
      <p:guideLst>
        <p:guide orient="horz" pos="2198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Relationship Id="rId37" Type="http://schemas.openxmlformats.org/officeDocument/2006/relationships/tags" Target="tags/tag16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1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tags" Target="../tags/tag1.xml"/><Relationship Id="rId7" Type="http://schemas.openxmlformats.org/officeDocument/2006/relationships/tags" Target="../tags/tag2.xml"/><Relationship Id="rId8" Type="http://schemas.openxmlformats.org/officeDocument/2006/relationships/tags" Target="../tags/tag3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8.xml"/><Relationship Id="rId6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tags" Target="../tags/tag9.xml"/><Relationship Id="rId7" Type="http://schemas.openxmlformats.org/officeDocument/2006/relationships/tags" Target="../tags/tag10.xml"/><Relationship Id="rId8" Type="http://schemas.openxmlformats.org/officeDocument/2006/relationships/tags" Target="../tags/tag1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11.png"/><Relationship Id="rId4" Type="http://schemas.openxmlformats.org/officeDocument/2006/relationships/image" Target="../media/image1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16.xml"/><Relationship Id="rId6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image" Target="../media/image13.png"/><Relationship Id="rId8" Type="http://schemas.openxmlformats.org/officeDocument/2006/relationships/image" Target="../media/image1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2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24.xml"/><Relationship Id="rId6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1.png"/><Relationship Id="rId5" Type="http://schemas.openxmlformats.org/officeDocument/2006/relationships/image" Target="../media/image15.svg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eg"/><Relationship Id="rId3" Type="http://schemas.openxmlformats.org/officeDocument/2006/relationships/image" Target="../media/image11.png"/><Relationship Id="rId4" Type="http://schemas.openxmlformats.org/officeDocument/2006/relationships/image" Target="../media/image1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image" Target="../media/image11.png"/><Relationship Id="rId8" Type="http://schemas.openxmlformats.org/officeDocument/2006/relationships/image" Target="../media/image1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3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32.xml"/><Relationship Id="rId6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6.svg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image" Target="../media/image13.png"/><Relationship Id="rId8" Type="http://schemas.openxmlformats.org/officeDocument/2006/relationships/image" Target="../media/image16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40.xml"/><Relationship Id="rId6" Type="http://schemas.openxmlformats.org/officeDocument/2006/relationships/image" Target="../media/image9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5.svg"/><Relationship Id="rId6" Type="http://schemas.openxmlformats.org/officeDocument/2006/relationships/tags" Target="../tags/tag41.xml"/><Relationship Id="rId7" Type="http://schemas.openxmlformats.org/officeDocument/2006/relationships/tags" Target="../tags/tag42.xml"/><Relationship Id="rId8" Type="http://schemas.openxmlformats.org/officeDocument/2006/relationships/tags" Target="../tags/tag4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4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45.xml"/><Relationship Id="rId6" Type="http://schemas.openxmlformats.org/officeDocument/2006/relationships/tags" Target="../tags/tag46.xml"/><Relationship Id="rId7" Type="http://schemas.openxmlformats.org/officeDocument/2006/relationships/image" Target="../media/image13.png"/><Relationship Id="rId8" Type="http://schemas.openxmlformats.org/officeDocument/2006/relationships/image" Target="../media/image1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4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48.xml"/><Relationship Id="rId6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7.svg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7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5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image" Target="../media/image13.png"/><Relationship Id="rId8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5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56.xml"/><Relationship Id="rId6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0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7.svg"/><Relationship Id="rId6" Type="http://schemas.openxmlformats.org/officeDocument/2006/relationships/tags" Target="../tags/tag57.xml"/><Relationship Id="rId7" Type="http://schemas.openxmlformats.org/officeDocument/2006/relationships/tags" Target="../tags/tag58.xml"/><Relationship Id="rId8" Type="http://schemas.openxmlformats.org/officeDocument/2006/relationships/tags" Target="../tags/tag5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7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6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61.xml"/><Relationship Id="rId6" Type="http://schemas.openxmlformats.org/officeDocument/2006/relationships/tags" Target="../tags/tag62.xml"/><Relationship Id="rId7" Type="http://schemas.openxmlformats.org/officeDocument/2006/relationships/image" Target="../media/image13.png"/><Relationship Id="rId8" Type="http://schemas.openxmlformats.org/officeDocument/2006/relationships/image" Target="../media/image1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6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64.xml"/><Relationship Id="rId6" Type="http://schemas.openxmlformats.org/officeDocument/2006/relationships/image" Target="../media/image9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jpe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0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8.svg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6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image" Target="../media/image13.png"/><Relationship Id="rId8" Type="http://schemas.openxmlformats.org/officeDocument/2006/relationships/image" Target="../media/image18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7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72.xml"/><Relationship Id="rId6" Type="http://schemas.openxmlformats.org/officeDocument/2006/relationships/image" Target="../media/image9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jpe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6.svg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7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image" Target="../media/image13.png"/><Relationship Id="rId8" Type="http://schemas.openxmlformats.org/officeDocument/2006/relationships/image" Target="../media/image16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7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80.xml"/><Relationship Id="rId6" Type="http://schemas.openxmlformats.org/officeDocument/2006/relationships/image" Target="../media/image9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jpe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0.jpe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8.svg"/><Relationship Id="rId6" Type="http://schemas.openxmlformats.org/officeDocument/2006/relationships/tags" Target="../tags/tag81.xml"/><Relationship Id="rId7" Type="http://schemas.openxmlformats.org/officeDocument/2006/relationships/tags" Target="../tags/tag82.xml"/><Relationship Id="rId8" Type="http://schemas.openxmlformats.org/officeDocument/2006/relationships/tags" Target="../tags/tag8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8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85.xml"/><Relationship Id="rId6" Type="http://schemas.openxmlformats.org/officeDocument/2006/relationships/tags" Target="../tags/tag86.xml"/><Relationship Id="rId7" Type="http://schemas.openxmlformats.org/officeDocument/2006/relationships/image" Target="../media/image13.png"/><Relationship Id="rId8" Type="http://schemas.openxmlformats.org/officeDocument/2006/relationships/image" Target="../media/image1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8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88.xml"/><Relationship Id="rId6" Type="http://schemas.openxmlformats.org/officeDocument/2006/relationships/image" Target="../media/image9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jpe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0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7.svg"/><Relationship Id="rId6" Type="http://schemas.openxmlformats.org/officeDocument/2006/relationships/tags" Target="../tags/tag89.xml"/><Relationship Id="rId7" Type="http://schemas.openxmlformats.org/officeDocument/2006/relationships/tags" Target="../tags/tag90.xml"/><Relationship Id="rId8" Type="http://schemas.openxmlformats.org/officeDocument/2006/relationships/tags" Target="../tags/tag9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7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9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93.xml"/><Relationship Id="rId6" Type="http://schemas.openxmlformats.org/officeDocument/2006/relationships/tags" Target="../tags/tag94.xml"/><Relationship Id="rId7" Type="http://schemas.openxmlformats.org/officeDocument/2006/relationships/image" Target="../media/image13.png"/><Relationship Id="rId8" Type="http://schemas.openxmlformats.org/officeDocument/2006/relationships/image" Target="../media/image17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9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96.xml"/><Relationship Id="rId6" Type="http://schemas.openxmlformats.org/officeDocument/2006/relationships/image" Target="../media/image9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0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3.png"/><Relationship Id="rId5" Type="http://schemas.openxmlformats.org/officeDocument/2006/relationships/image" Target="../media/image19.svg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jpeg"/><Relationship Id="rId3" Type="http://schemas.openxmlformats.org/officeDocument/2006/relationships/image" Target="../media/image13.png"/><Relationship Id="rId4" Type="http://schemas.openxmlformats.org/officeDocument/2006/relationships/image" Target="../media/image19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10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image" Target="../media/image13.png"/><Relationship Id="rId8" Type="http://schemas.openxmlformats.org/officeDocument/2006/relationships/image" Target="../media/image19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10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tags" Target="../tags/tag104.xml"/><Relationship Id="rId6" Type="http://schemas.openxmlformats.org/officeDocument/2006/relationships/image" Target="../media/image9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jpe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0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VF Light" panose="020B0200000000000000" charset="-122"/>
              </a:endParaRPr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VF Light" panose="020B0200000000000000" charset="-122"/>
              </a:endParaRPr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VF Light" panose="020B0200000000000000" charset="-122"/>
              </a:endParaRPr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VF Light" panose="020B0200000000000000" charset="-122"/>
              </a:endParaRPr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9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" name="图片 1" descr="1920-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840970" cy="685800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687705" y="3045281"/>
            <a:ext cx="4631281" cy="558799"/>
          </a:xfrm>
        </p:spPr>
        <p:txBody>
          <a:bodyPr>
            <a:norm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点击此处填写副标题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687705" y="2053590"/>
            <a:ext cx="8517255" cy="1062355"/>
          </a:xfrm>
        </p:spPr>
        <p:txBody>
          <a:bodyPr>
            <a:noAutofit/>
          </a:bodyPr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点击此处填写标题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11"/>
          <p:cNvSpPr/>
          <p:nvPr userDrawn="1"/>
        </p:nvSpPr>
        <p:spPr>
          <a:xfrm>
            <a:off x="949960" y="4392930"/>
            <a:ext cx="10153650" cy="6350"/>
          </a:xfrm>
          <a:custGeom>
            <a:avLst/>
            <a:gdLst>
              <a:gd name="connsiteX0" fmla="*/ 3162 w 10153896"/>
              <a:gd name="connsiteY0" fmla="*/ 3162 h 0"/>
              <a:gd name="connsiteX1" fmla="*/ 10152621 w 10153896"/>
              <a:gd name="connsiteY1" fmla="*/ 3162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3896">
                <a:moveTo>
                  <a:pt x="3162" y="3162"/>
                </a:moveTo>
                <a:lnTo>
                  <a:pt x="10152621" y="3162"/>
                </a:lnTo>
              </a:path>
            </a:pathLst>
          </a:custGeom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sp>
        <p:nvSpPr>
          <p:cNvPr id="6" name="任意多边形: 形状 7"/>
          <p:cNvSpPr/>
          <p:nvPr userDrawn="1"/>
        </p:nvSpPr>
        <p:spPr>
          <a:xfrm>
            <a:off x="0" y="-15875"/>
            <a:ext cx="3482975" cy="6873875"/>
          </a:xfrm>
          <a:custGeom>
            <a:avLst/>
            <a:gdLst>
              <a:gd name="connsiteX0" fmla="*/ 3162 w 3492382"/>
              <a:gd name="connsiteY0" fmla="*/ 3162 h 6858000"/>
              <a:gd name="connsiteX1" fmla="*/ 3494911 w 3492382"/>
              <a:gd name="connsiteY1" fmla="*/ 3162 h 6858000"/>
              <a:gd name="connsiteX2" fmla="*/ 3494911 w 3492382"/>
              <a:gd name="connsiteY2" fmla="*/ 6855457 h 6858000"/>
              <a:gd name="connsiteX3" fmla="*/ 3162 w 3492382"/>
              <a:gd name="connsiteY3" fmla="*/ 685545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2382" h="6858000">
                <a:moveTo>
                  <a:pt x="3162" y="3162"/>
                </a:moveTo>
                <a:lnTo>
                  <a:pt x="3494911" y="3162"/>
                </a:lnTo>
                <a:lnTo>
                  <a:pt x="3494911" y="6855457"/>
                </a:lnTo>
                <a:lnTo>
                  <a:pt x="3162" y="6855457"/>
                </a:lnTo>
                <a:close/>
              </a:path>
            </a:pathLst>
          </a:custGeom>
          <a:solidFill>
            <a:srgbClr val="EBEFF8"/>
          </a:solidFill>
          <a:ln w="6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思源黑体 CN VF Light" panose="020B0200000000000000" charset="-122"/>
            </a:endParaRPr>
          </a:p>
        </p:txBody>
      </p:sp>
      <p:pic>
        <p:nvPicPr>
          <p:cNvPr id="5" name="图片 4" descr="封面-8"/>
          <p:cNvPicPr>
            <a:picLocks noChangeAspect="1"/>
          </p:cNvPicPr>
          <p:nvPr userDrawn="1"/>
        </p:nvPicPr>
        <p:blipFill>
          <a:blip r:embed="rId2"/>
          <a:srcRect l="57235" t="7673" r="7052"/>
          <a:stretch>
            <a:fillRect/>
          </a:stretch>
        </p:blipFill>
        <p:spPr>
          <a:xfrm>
            <a:off x="635" y="1799590"/>
            <a:ext cx="3481705" cy="5058410"/>
          </a:xfrm>
          <a:prstGeom prst="rect">
            <a:avLst/>
          </a:prstGeom>
        </p:spPr>
      </p:pic>
      <p:pic>
        <p:nvPicPr>
          <p:cNvPr id="21" name="图片 20" descr="新版logo_复制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5" y="333375"/>
            <a:ext cx="1504315" cy="3860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2" name="图片 1" descr="7195775cbc4142c3047eee8d11500d816db3293caa109-7r3kx9"/>
          <p:cNvPicPr>
            <a:picLocks noChangeAspect="1"/>
          </p:cNvPicPr>
          <p:nvPr userDrawn="1"/>
        </p:nvPicPr>
        <p:blipFill>
          <a:blip r:embed="rId4"/>
          <a:srcRect l="35092" r="47266" b="92380"/>
          <a:stretch>
            <a:fillRect/>
          </a:stretch>
        </p:blipFill>
        <p:spPr>
          <a:xfrm>
            <a:off x="316865" y="288290"/>
            <a:ext cx="655320" cy="60325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94678" y="264160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2">
                    <a:lumMod val="2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5" name="图片 4" descr="新版logo_复制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25785" y="367030"/>
            <a:ext cx="1204595" cy="3092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8e4b360a28e5b455f22b6596c04d26a74f3b555e833da-zSl9H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33058" y="144145"/>
            <a:ext cx="10515600" cy="640715"/>
          </a:xfrm>
        </p:spPr>
        <p:txBody>
          <a:bodyPr vert="horz" lIns="91440" tIns="45720" rIns="91440" bIns="4572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1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VF Light" panose="020B02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单击此处编辑标题描述</a:t>
            </a:r>
            <a:endParaRPr dirty="0">
              <a:sym typeface="+mn-ea"/>
            </a:endParaRPr>
          </a:p>
        </p:txBody>
      </p:sp>
      <p:pic>
        <p:nvPicPr>
          <p:cNvPr id="6" name="图片 5" descr="金智维logo红白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97210" y="253365"/>
            <a:ext cx="1235710" cy="367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100330" y="0"/>
            <a:ext cx="12291695" cy="6857365"/>
            <a:chOff x="-158" y="0"/>
            <a:chExt cx="19357" cy="10799"/>
          </a:xfrm>
        </p:grpSpPr>
        <p:sp>
          <p:nvSpPr>
            <p:cNvPr id="34" name="矩形 33"/>
            <p:cNvSpPr/>
            <p:nvPr userDrawn="1"/>
          </p:nvSpPr>
          <p:spPr>
            <a:xfrm>
              <a:off x="-158" y="0"/>
              <a:ext cx="19357" cy="10799"/>
            </a:xfrm>
            <a:prstGeom prst="rect">
              <a:avLst/>
            </a:prstGeom>
            <a:solidFill>
              <a:srgbClr val="EBE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VF Light" panose="020B0200000000000000" charset="-122"/>
              </a:endParaRPr>
            </a:p>
          </p:txBody>
        </p:sp>
        <p:pic>
          <p:nvPicPr>
            <p:cNvPr id="26" name="图片 25" descr="封面-8"/>
            <p:cNvPicPr>
              <a:picLocks noChangeAspect="1"/>
            </p:cNvPicPr>
            <p:nvPr userDrawn="1"/>
          </p:nvPicPr>
          <p:blipFill>
            <a:blip r:embed="rId2"/>
            <a:srcRect t="8572" b="9421"/>
            <a:stretch>
              <a:fillRect/>
            </a:stretch>
          </p:blipFill>
          <p:spPr>
            <a:xfrm>
              <a:off x="3537" y="3739"/>
              <a:ext cx="15662" cy="706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封面"/>
          <p:cNvPicPr>
            <a:picLocks noChangeAspect="1"/>
          </p:cNvPicPr>
          <p:nvPr userDrawn="1"/>
        </p:nvPicPr>
        <p:blipFill>
          <a:blip r:embed="rId2">
            <a:alphaModFix amt="48000"/>
          </a:blip>
          <a:stretch>
            <a:fillRect/>
          </a:stretch>
        </p:blipFill>
        <p:spPr>
          <a:xfrm>
            <a:off x="0" y="5080"/>
            <a:ext cx="12192000" cy="68484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cs typeface="思源黑体 CN VF Light" panose="020B0200000000000000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theme" Target="../theme/them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hemeOverride" Target="../theme/themeOverr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slideLayout" Target="../slideLayouts/slideLayout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slideLayout" Target="../slideLayouts/slideLayout8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3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slideLayout" Target="../slideLayouts/slideLayout3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tags" Target="../tags/tag130.xml"/><Relationship Id="rId6" Type="http://schemas.openxmlformats.org/officeDocument/2006/relationships/slideLayout" Target="../slideLayouts/slideLayout7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31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slideLayout" Target="../slideLayouts/slideLayout6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34.x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slideLayout" Target="../slideLayouts/slideLayout8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37.xml"/><Relationship Id="rId2" Type="http://schemas.openxmlformats.org/officeDocument/2006/relationships/tags" Target="../tags/tag138.xml"/><Relationship Id="rId3" Type="http://schemas.openxmlformats.org/officeDocument/2006/relationships/tags" Target="../tags/tag139.xml"/><Relationship Id="rId4" Type="http://schemas.openxmlformats.org/officeDocument/2006/relationships/tags" Target="../tags/tag140.xml"/><Relationship Id="rId5" Type="http://schemas.openxmlformats.org/officeDocument/2006/relationships/tags" Target="../tags/tag141.xml"/><Relationship Id="rId6" Type="http://schemas.openxmlformats.org/officeDocument/2006/relationships/tags" Target="../tags/tag142.xml"/><Relationship Id="rId7" Type="http://schemas.openxmlformats.org/officeDocument/2006/relationships/slideLayout" Target="../slideLayouts/slideLayout4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43.xml"/><Relationship Id="rId2" Type="http://schemas.openxmlformats.org/officeDocument/2006/relationships/tags" Target="../tags/tag144.xml"/><Relationship Id="rId3" Type="http://schemas.openxmlformats.org/officeDocument/2006/relationships/tags" Target="../tags/tag145.xml"/><Relationship Id="rId4" Type="http://schemas.openxmlformats.org/officeDocument/2006/relationships/tags" Target="../tags/tag146.xml"/><Relationship Id="rId5" Type="http://schemas.openxmlformats.org/officeDocument/2006/relationships/tags" Target="../tags/tag147.xml"/><Relationship Id="rId6" Type="http://schemas.openxmlformats.org/officeDocument/2006/relationships/tags" Target="../tags/tag148.xml"/><Relationship Id="rId7" Type="http://schemas.openxmlformats.org/officeDocument/2006/relationships/slideLayout" Target="../slideLayouts/slideLayout5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149.xml"/><Relationship Id="rId2" Type="http://schemas.openxmlformats.org/officeDocument/2006/relationships/tags" Target="../tags/tag150.xml"/><Relationship Id="rId3" Type="http://schemas.openxmlformats.org/officeDocument/2006/relationships/tags" Target="../tags/tag151.xml"/><Relationship Id="rId4" Type="http://schemas.openxmlformats.org/officeDocument/2006/relationships/tags" Target="../tags/tag152.xml"/><Relationship Id="rId5" Type="http://schemas.openxmlformats.org/officeDocument/2006/relationships/tags" Target="../tags/tag153.xml"/><Relationship Id="rId6" Type="http://schemas.openxmlformats.org/officeDocument/2006/relationships/tags" Target="../tags/tag154.xml"/><Relationship Id="rId7" Type="http://schemas.openxmlformats.org/officeDocument/2006/relationships/slideLayout" Target="../slideLayouts/slideLayout5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slideLayout" Target="../slideLayouts/slideLayout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slideLayout" Target="../slideLayouts/slideLayout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61.xml"/><Relationship Id="rId2" Type="http://schemas.openxmlformats.org/officeDocument/2006/relationships/tags" Target="../tags/tag162.xml"/><Relationship Id="rId3" Type="http://schemas.openxmlformats.org/officeDocument/2006/relationships/tags" Target="../tags/tag163.xml"/><Relationship Id="rId4" Type="http://schemas.openxmlformats.org/officeDocument/2006/relationships/slideLayout" Target="../slideLayouts/slideLayou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jpe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项目情况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汇报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部门项目</a:t>
            </a:r>
            <a:r>
              <a:rPr lang="zh-CN" altLang="en-US" sz="50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周报</a:t>
            </a:r>
            <a:endParaRPr lang="zh-CN" altLang="en-US" sz="50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861878" y="5045856"/>
            <a:ext cx="39398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文本占位符 6"/>
          <p:cNvSpPr txBox="1"/>
          <p:nvPr/>
        </p:nvSpPr>
        <p:spPr>
          <a:xfrm>
            <a:off x="782955" y="5346700"/>
            <a:ext cx="5235575" cy="605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5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珠海金智维人工智能股份有限公司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·2026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08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08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日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l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www.kingsware.cn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28688" y="86360"/>
            <a:ext cx="10515600" cy="640715"/>
          </a:xfrm>
        </p:spPr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在建项目</a:t>
            </a:r>
            <a:r>
              <a:rPr>
                <a:solidFill>
                  <a:schemeClr val="tx1"/>
                </a:solidFill>
                <a:sym typeface="+mn-ea"/>
              </a:rPr>
              <a:t>整体情况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7883" y="209550"/>
            <a:ext cx="10515600" cy="640715"/>
          </a:xfrm>
        </p:spPr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本周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jira</a:t>
            </a:r>
            <a:r>
              <a:rPr>
                <a:solidFill>
                  <a:schemeClr val="tx1"/>
                </a:solidFill>
                <a:sym typeface="+mn-ea"/>
              </a:rPr>
              <a:t>情况</a:t>
            </a:r>
            <a:endParaRPr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348615"/>
            <a:ext cx="10515600" cy="640715"/>
          </a:xfrm>
        </p:spPr>
        <p:txBody>
          <a:bodyPr/>
          <a:p>
            <a:r>
              <a:rPr>
                <a:solidFill>
                  <a:schemeClr val="tx1"/>
                </a:solidFill>
                <a:cs typeface="+mn-ea"/>
                <a:sym typeface="思源黑体 CN VF Light" panose="020B0200000000000000" charset="-122"/>
              </a:rPr>
              <a:t>物业商机智能体</a:t>
            </a:r>
            <a:r>
              <a:rPr sz="2000" b="0">
                <a:solidFill>
                  <a:schemeClr val="tx1"/>
                </a:solidFill>
                <a:cs typeface="+mn-ea"/>
                <a:sym typeface="思源黑体 CN VF Light" panose="020B0200000000000000" charset="-122"/>
              </a:rPr>
              <a:t>（汇报人：周佳宇）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cs typeface="思源黑体 CN VF Light" panose="020B0200000000000000" charset="-122"/>
              </a:rPr>
              <a:t>下周计划</a:t>
            </a:r>
            <a:endParaRPr lang="zh-CN" altLang="en-US" sz="1350" b="1"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 b="1">
                  <a:solidFill>
                    <a:srgbClr val="FF0000"/>
                  </a:solidFill>
                  <a:cs typeface="思源黑体 CN VF Light" panose="020B0200000000000000" charset="-122"/>
                </a:rPr>
                <a:t>本周问题</a:t>
              </a:r>
              <a:endParaRPr lang="zh-CN" altLang="en-US" sz="1350" b="1">
                <a:solidFill>
                  <a:srgbClr val="FF0000"/>
                </a:solidFill>
                <a:cs typeface="思源黑体 CN VF Light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4720" y="264160"/>
            <a:ext cx="10175875" cy="640715"/>
          </a:xfrm>
        </p:spPr>
        <p:txBody>
          <a:bodyPr/>
          <a:p>
            <a:r>
              <a:rPr>
                <a:sym typeface="+mn-ea"/>
              </a:rPr>
              <a:t>咖啡指数</a:t>
            </a:r>
            <a:r>
              <a:rPr sz="2000" b="0">
                <a:sym typeface="+mn-ea"/>
              </a:rPr>
              <a:t>（汇报人：郑乐园）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solidFill>
                  <a:srgbClr val="FF0000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问题</a:t>
            </a:r>
            <a:endParaRPr lang="zh-CN" altLang="en-US" sz="1350">
              <a:solidFill>
                <a:srgbClr val="FF0000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264160"/>
            <a:ext cx="10515600" cy="640715"/>
          </a:xfrm>
        </p:spPr>
        <p:txBody>
          <a:bodyPr/>
          <a:p>
            <a:r>
              <a:rPr>
                <a:sym typeface="+mn-ea"/>
              </a:rPr>
              <a:t>金智维K-Loghub日志平台（汇报人：李礼辛）</a:t>
            </a:r>
            <a:r>
              <a:rPr lang="en-US" altLang="zh-CN">
                <a:sym typeface="+mn-ea"/>
              </a:rPr>
              <a:t/>
            </a:r>
            <a:r>
              <a:rPr>
                <a:sym typeface="+mn-ea"/>
              </a:rPr>
              <a:t/>
            </a:r>
            <a:r>
              <a:rPr sz="2000" b="0">
                <a:sym typeface="+mn-ea"/>
              </a:rPr>
              <a:t/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 b="1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>
                  <a:solidFill>
                    <a:srgbClr val="FF0000"/>
                  </a:solidFill>
                  <a:latin typeface="思源黑体 CN VF Light" panose="020B0200000000000000" charset="-122"/>
                  <a:ea typeface="思源黑体 CN VF Light" panose="020B0200000000000000" charset="-122"/>
                  <a:cs typeface="思源黑体 CN VF Light" panose="020B0200000000000000" charset="-122"/>
                </a:rPr>
                <a:t>本周问题</a:t>
              </a:r>
              <a:endParaRPr lang="zh-CN" altLang="en-US" sz="1350">
                <a:solidFill>
                  <a:srgbClr val="FF0000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264160"/>
            <a:ext cx="10515600" cy="640715"/>
          </a:xfrm>
        </p:spPr>
        <p:txBody>
          <a:bodyPr/>
          <a:p>
            <a:r>
              <a:rPr>
                <a:sym typeface="+mn-ea"/>
              </a:rPr>
              <a:t>国信指标平台</a:t>
            </a:r>
            <a:r>
              <a:rPr sz="2000" b="0">
                <a:sym typeface="+mn-ea"/>
              </a:rPr>
              <a:t>（汇报人：窦欢欢）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>
                  <a:solidFill>
                    <a:srgbClr val="FF0000"/>
                  </a:solidFill>
                  <a:latin typeface="思源黑体 CN VF Light" panose="020B0200000000000000" charset="-122"/>
                  <a:ea typeface="思源黑体 CN VF Light" panose="020B0200000000000000" charset="-122"/>
                  <a:cs typeface="思源黑体 CN VF Light" panose="020B0200000000000000" charset="-122"/>
                </a:rPr>
                <a:t>本周问题</a:t>
              </a:r>
              <a:endParaRPr lang="zh-CN" altLang="en-US" sz="1350">
                <a:solidFill>
                  <a:srgbClr val="FF0000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348615"/>
            <a:ext cx="10515600" cy="640715"/>
          </a:xfrm>
        </p:spPr>
        <p:txBody>
          <a:bodyPr/>
          <a:p>
            <a:r>
              <a:rPr>
                <a:sym typeface="+mn-ea"/>
              </a:rPr>
              <a:t>墨巡</a:t>
            </a:r>
            <a:r>
              <a:rPr lang="en-US" altLang="zh-CN">
                <a:sym typeface="+mn-ea"/>
              </a:rPr>
              <a:t>MiciusOps</a:t>
            </a:r>
            <a:r>
              <a:rPr>
                <a:sym typeface="+mn-ea"/>
              </a:rPr>
              <a:t>智能运维平台</a:t>
            </a:r>
            <a:r>
              <a:rPr sz="1800" b="0">
                <a:sym typeface="+mn-ea"/>
              </a:rPr>
              <a:t>（汇报人：刘昕）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cs typeface="思源黑体 CN VF Light" panose="020B0200000000000000" charset="-122"/>
              </a:rPr>
              <a:t>下周计划</a:t>
            </a:r>
            <a:endParaRPr lang="zh-CN" altLang="en-US" sz="1350" b="1"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 b="1">
                  <a:solidFill>
                    <a:srgbClr val="FF0000"/>
                  </a:solidFill>
                  <a:cs typeface="思源黑体 CN VF Light" panose="020B0200000000000000" charset="-122"/>
                </a:rPr>
                <a:t>本周问题</a:t>
              </a:r>
              <a:endParaRPr lang="zh-CN" altLang="en-US" sz="1350" b="1">
                <a:solidFill>
                  <a:srgbClr val="FF0000"/>
                </a:solidFill>
                <a:cs typeface="思源黑体 CN VF Light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4720" y="264160"/>
            <a:ext cx="10175875" cy="640715"/>
          </a:xfrm>
        </p:spPr>
        <p:txBody>
          <a:bodyPr/>
          <a:p>
            <a:r>
              <a:rPr>
                <a:sym typeface="+mn-ea"/>
              </a:rPr>
              <a:t>智能体</a:t>
            </a:r>
            <a:r>
              <a:rPr sz="2000" b="0">
                <a:sym typeface="+mn-ea"/>
              </a:rPr>
              <a:t>（汇报人：官浩杰）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solidFill>
                  <a:srgbClr val="FF0000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问题</a:t>
            </a:r>
            <a:endParaRPr lang="zh-CN" altLang="en-US" sz="1350">
              <a:solidFill>
                <a:srgbClr val="FF0000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34720" y="264160"/>
            <a:ext cx="10175875" cy="640715"/>
          </a:xfrm>
        </p:spPr>
        <p:txBody>
          <a:bodyPr/>
          <a:p>
            <a:r>
              <a:rPr>
                <a:sym typeface="+mn-ea"/>
              </a:rPr>
              <a:t>数据大脑</a:t>
            </a:r>
            <a:r>
              <a:rPr sz="2000" b="0">
                <a:sym typeface="+mn-ea"/>
              </a:rPr>
              <a:t>（汇报人：官浩杰）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 b="1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solidFill>
                  <a:srgbClr val="FF0000"/>
                </a:solidFill>
                <a:cs typeface="思源黑体 CN VF Light" panose="020B0200000000000000" charset="-122"/>
              </a:rPr>
              <a:t>问题</a:t>
            </a:r>
            <a:endParaRPr lang="zh-CN" altLang="en-US" sz="1350" b="1">
              <a:solidFill>
                <a:srgbClr val="FF0000"/>
              </a:solidFill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264160"/>
            <a:ext cx="10515600" cy="640715"/>
          </a:xfrm>
        </p:spPr>
        <p:txBody>
          <a:bodyPr/>
          <a:p>
            <a:r>
              <a:rPr>
                <a:sym typeface="+mn-ea"/>
              </a:rPr>
              <a:t>混沌测试</a:t>
            </a:r>
            <a:r>
              <a:rPr sz="2000" b="0">
                <a:sym typeface="+mn-ea"/>
              </a:rPr>
              <a:t>（汇报人：王璐）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89330"/>
            <a:ext cx="540000" cy="57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5037455" cy="57600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"/>
            </p:custDataLst>
          </p:nvPr>
        </p:nvSpPr>
        <p:spPr>
          <a:xfrm>
            <a:off x="1189990" y="1052195"/>
            <a:ext cx="5285740" cy="542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Font typeface="思源黑体 CN VF Light" panose="020B0200000000000000" charset="-122"/>
              <a:buChar char="•"/>
            </a:pPr>
            <a:endParaRPr lang="zh-CN" altLang="en-US" sz="800" dirty="0">
              <a:solidFill>
                <a:schemeClr val="tx1">
                  <a:lumMod val="85000"/>
                  <a:lumOff val="15000"/>
                </a:schemeClr>
              </a:solidFill>
              <a:cs typeface="思源黑体 CN VF Light" panose="020B0200000000000000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Font typeface="思源黑体 CN VF Light" panose="020B0200000000000000" charset="-122"/>
              <a:buChar char="•"/>
            </a:pPr>
            <a:endParaRPr lang="zh-CN" altLang="en-US" sz="800" dirty="0">
              <a:solidFill>
                <a:schemeClr val="tx1">
                  <a:lumMod val="85000"/>
                  <a:lumOff val="15000"/>
                </a:schemeClr>
              </a:solidFill>
              <a:cs typeface="思源黑体 CN VF Light" panose="020B0200000000000000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Font typeface="思源黑体 CN VF Light" panose="020B0200000000000000" charset="-122"/>
              <a:buChar char="•"/>
            </a:pPr>
            <a:endParaRPr lang="zh-CN" altLang="en-US" sz="800" dirty="0">
              <a:solidFill>
                <a:schemeClr val="tx1">
                  <a:lumMod val="85000"/>
                  <a:lumOff val="15000"/>
                </a:schemeClr>
              </a:solidFill>
              <a:cs typeface="思源黑体 CN VF Light" panose="020B0200000000000000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Font typeface="思源黑体 CN VF Light" panose="020B0200000000000000" charset="-122"/>
              <a:buChar char="•"/>
            </a:pPr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cs typeface="思源黑体 CN VF Light" panose="020B0200000000000000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Font typeface="思源黑体 CN VF Light" panose="020B0200000000000000" charset="-122"/>
              <a:buChar char="•"/>
            </a:pPr>
            <a:endParaRPr lang="zh-CN" altLang="en-US" sz="1000">
              <a:solidFill>
                <a:schemeClr val="tx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  <a:sym typeface="+mn-ea"/>
            </a:endParaRPr>
          </a:p>
        </p:txBody>
      </p: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6315075" y="989330"/>
            <a:ext cx="5221605" cy="5760085"/>
            <a:chOff x="13817" y="1558"/>
            <a:chExt cx="3680" cy="8813"/>
          </a:xfrm>
        </p:grpSpPr>
        <p:sp>
          <p:nvSpPr>
            <p:cNvPr id="2" name="矩形 1"/>
            <p:cNvSpPr/>
            <p:nvPr>
              <p:custDataLst>
                <p:tags r:id="rId6"/>
              </p:custDataLst>
            </p:nvPr>
          </p:nvSpPr>
          <p:spPr>
            <a:xfrm>
              <a:off x="13817" y="1558"/>
              <a:ext cx="3680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4080" y="1759"/>
              <a:ext cx="3229" cy="850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indent="0" algn="l" fontAlgn="auto">
                <a:lnSpc>
                  <a:spcPct val="150000"/>
                </a:lnSpc>
                <a:spcAft>
                  <a:spcPts val="0"/>
                </a:spcAft>
                <a:buFont typeface="思源黑体 CN VF Light" panose="020B0200000000000000" charset="-122"/>
                <a:buNone/>
              </a:pPr>
              <a:endParaRPr lang="zh-CN" altLang="en-US" sz="1400">
                <a:cs typeface="思源黑体 CN VF Light" panose="020B02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264160"/>
            <a:ext cx="10515600" cy="640715"/>
          </a:xfrm>
        </p:spPr>
        <p:txBody>
          <a:bodyPr/>
          <a:p>
            <a:r>
              <a:rPr>
                <a:sym typeface="+mn-ea"/>
              </a:rPr>
              <a:t>混沌测试</a:t>
            </a:r>
            <a:r>
              <a:rPr sz="2000" b="0">
                <a:sym typeface="+mn-ea"/>
              </a:rPr>
              <a:t>（汇报人：王璐）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cs typeface="思源黑体 CN VF Light" panose="020B0200000000000000" charset="-122"/>
              </a:rPr>
              <a:t>下周计划</a:t>
            </a:r>
            <a:endParaRPr lang="zh-CN" altLang="en-US" sz="1350" b="1"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 b="1">
                  <a:solidFill>
                    <a:srgbClr val="FF0000"/>
                  </a:solidFill>
                  <a:cs typeface="思源黑体 CN VF Light" panose="020B0200000000000000" charset="-122"/>
                </a:rPr>
                <a:t>本周问题</a:t>
              </a:r>
              <a:endParaRPr lang="zh-CN" altLang="en-US" sz="1350" b="1">
                <a:solidFill>
                  <a:srgbClr val="FF0000"/>
                </a:solidFill>
                <a:cs typeface="思源黑体 CN VF Light" panose="020B0200000000000000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120140" y="4631055"/>
            <a:ext cx="6475095" cy="195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 typeface="思源黑体 CN VF Light" panose="020B0200000000000000" charset="-122"/>
              <a:buChar char="•"/>
            </a:pPr>
            <a:endParaRPr lang="zh-CN" altLang="en-US" sz="1000">
              <a:solidFill>
                <a:srgbClr val="37415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9478" y="264160"/>
            <a:ext cx="10515600" cy="640715"/>
          </a:xfrm>
        </p:spPr>
        <p:txBody>
          <a:bodyPr/>
          <a:p>
            <a:r>
              <a:rPr>
                <a:sym typeface="+mn-ea"/>
              </a:rPr>
              <a:t>南京银行</a:t>
            </a:r>
            <a:r>
              <a:rPr sz="2000" b="0">
                <a:sym typeface="+mn-ea"/>
              </a:rPr>
              <a:t>（汇报人：王璐）</a:t>
            </a:r>
            <a:endParaRPr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72440" y="994410"/>
            <a:ext cx="539750" cy="34772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 b="1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 b="1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1114425" y="989330"/>
            <a:ext cx="6544945" cy="34829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69900" y="4555490"/>
            <a:ext cx="540000" cy="20434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 b="1">
                <a:cs typeface="思源黑体 CN VF Light" panose="020B0200000000000000" charset="-122"/>
              </a:rPr>
              <a:t>下周计划</a:t>
            </a:r>
            <a:endParaRPr lang="zh-CN" altLang="en-US" sz="1350" b="1">
              <a:cs typeface="思源黑体 CN VF Light" panose="020B0200000000000000" charset="-122"/>
            </a:endParaRPr>
          </a:p>
        </p:txBody>
      </p:sp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1114425" y="4556125"/>
            <a:ext cx="6545580" cy="203327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62240" y="989330"/>
            <a:ext cx="3978910" cy="5600065"/>
            <a:chOff x="13817" y="1558"/>
            <a:chExt cx="4752" cy="8819"/>
          </a:xfrm>
        </p:grpSpPr>
        <p:sp>
          <p:nvSpPr>
            <p:cNvPr id="2" name="矩形 1"/>
            <p:cNvSpPr/>
            <p:nvPr/>
          </p:nvSpPr>
          <p:spPr>
            <a:xfrm>
              <a:off x="13817" y="1558"/>
              <a:ext cx="3938" cy="8813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350">
                <a:cs typeface="思源黑体 CN VF Light" panose="020B0200000000000000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7906" y="1558"/>
              <a:ext cx="663" cy="881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eaVert" rtlCol="0" anchor="ctr" anchorCtr="0"/>
            <a:p>
              <a:pPr algn="ctr"/>
              <a:r>
                <a:rPr lang="zh-CN" altLang="en-US" sz="1350" b="1">
                  <a:solidFill>
                    <a:srgbClr val="FF0000"/>
                  </a:solidFill>
                  <a:cs typeface="思源黑体 CN VF Light" panose="020B0200000000000000" charset="-122"/>
                </a:rPr>
                <a:t>本周问题</a:t>
              </a:r>
              <a:endParaRPr lang="zh-CN" altLang="en-US" sz="1350" b="1">
                <a:solidFill>
                  <a:srgbClr val="FF0000"/>
                </a:solidFill>
                <a:cs typeface="思源黑体 CN VF Light" panose="020B0200000000000000" charset="-122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120140" y="4631055"/>
            <a:ext cx="6475095" cy="195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 typeface="思源黑体 CN VF Light" panose="020B0200000000000000" charset="-122"/>
              <a:buChar char="•"/>
            </a:pPr>
            <a:endParaRPr lang="zh-CN" altLang="en-US" sz="1000">
              <a:solidFill>
                <a:srgbClr val="374151"/>
              </a:solidFill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5670" y="264160"/>
            <a:ext cx="10194925" cy="640715"/>
          </a:xfrm>
        </p:spPr>
        <p:txBody>
          <a:bodyPr/>
          <a:p>
            <a:r>
              <a:rPr>
                <a:sym typeface="+mn-ea"/>
              </a:rPr>
              <a:t>应急演练指挥</a:t>
            </a:r>
            <a:r>
              <a:rPr>
                <a:sym typeface="+mn-ea"/>
              </a:rPr>
              <a:t>调度平台</a:t>
            </a:r>
            <a:r>
              <a:rPr sz="2000" b="0">
                <a:sym typeface="+mn-ea"/>
              </a:rPr>
              <a:t>（汇报人：郑乐园）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cs typeface="思源黑体 CN VF Light" panose="020B0200000000000000" charset="-122"/>
              </a:rPr>
              <a:t>下周计划</a:t>
            </a:r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solidFill>
                  <a:srgbClr val="FF0000"/>
                </a:solidFill>
                <a:cs typeface="思源黑体 CN VF Light" panose="020B0200000000000000" charset="-122"/>
              </a:rPr>
              <a:t>问题</a:t>
            </a:r>
            <a:endParaRPr lang="zh-CN" altLang="en-US" sz="1350">
              <a:solidFill>
                <a:srgbClr val="FF0000"/>
              </a:solidFill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7255" y="264160"/>
            <a:ext cx="10213340" cy="640715"/>
          </a:xfrm>
        </p:spPr>
        <p:txBody>
          <a:bodyPr/>
          <a:p>
            <a:r>
              <a:rPr>
                <a:sym typeface="+mn-ea"/>
              </a:rPr>
              <a:t>中信证券</a:t>
            </a:r>
            <a:r>
              <a:rPr lang="en-US" altLang="zh-CN">
                <a:sym typeface="+mn-ea"/>
              </a:rPr>
              <a:t>：</a:t>
            </a:r>
            <a:r>
              <a:rPr>
                <a:sym typeface="+mn-ea"/>
              </a:rPr>
              <a:t>应急指挥调度平台二期</a:t>
            </a:r>
            <a:r>
              <a:rPr sz="2000" b="0">
                <a:sym typeface="+mn-ea"/>
              </a:rPr>
              <a:t>（汇报人：郑乐园）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本周</a:t>
            </a:r>
            <a:r>
              <a:rPr lang="zh-CN" altLang="en-US" sz="1350">
                <a:solidFill>
                  <a:schemeClr val="bg1"/>
                </a:solidFill>
                <a:cs typeface="思源黑体 CN VF Light" panose="020B0200000000000000" charset="-122"/>
              </a:rPr>
              <a:t>进度</a:t>
            </a:r>
            <a:endParaRPr lang="zh-CN" altLang="en-US" sz="1350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latin typeface="思源黑体 CN VF Light" panose="020B0200000000000000" charset="-122"/>
                <a:ea typeface="思源黑体 CN VF Light" panose="020B0200000000000000" charset="-122"/>
                <a:cs typeface="思源黑体 CN VF Light" panose="020B0200000000000000" charset="-122"/>
              </a:rPr>
              <a:t>下周计划</a:t>
            </a:r>
            <a:endParaRPr lang="zh-CN" altLang="en-US" sz="1350">
              <a:latin typeface="思源黑体 CN VF Light" panose="020B0200000000000000" charset="-122"/>
              <a:ea typeface="思源黑体 CN VF Light" panose="020B0200000000000000" charset="-122"/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solidFill>
                  <a:srgbClr val="FF0000"/>
                </a:solidFill>
                <a:cs typeface="思源黑体 CN VF Light" panose="020B0200000000000000" charset="-122"/>
              </a:rPr>
              <a:t>问题</a:t>
            </a:r>
            <a:endParaRPr lang="zh-CN" altLang="en-US" sz="1350">
              <a:solidFill>
                <a:srgbClr val="FF0000"/>
              </a:solidFill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29005" y="264160"/>
            <a:ext cx="10181590" cy="640715"/>
          </a:xfrm>
        </p:spPr>
        <p:txBody>
          <a:bodyPr/>
          <a:p>
            <a:r>
              <a:rPr>
                <a:sym typeface="+mn-ea"/>
              </a:rPr>
              <a:t>绿证</a:t>
            </a:r>
            <a:r>
              <a:rPr lang="en-US" altLang="zh-CN">
                <a:sym typeface="+mn-ea"/>
              </a:rPr>
              <a:t>、</a:t>
            </a:r>
            <a:r>
              <a:rPr>
                <a:sym typeface="+mn-ea"/>
              </a:rPr>
              <a:t>自主交易</a:t>
            </a:r>
            <a:r>
              <a:rPr sz="2000" b="0">
                <a:sym typeface="+mn-ea"/>
              </a:rPr>
              <a:t>（汇报人：郑乐园）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72440" y="944880"/>
            <a:ext cx="539750" cy="30600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 anchorCtr="0"/>
          <a:p>
            <a:pPr algn="ctr"/>
            <a:r>
              <a:rPr lang="zh-CN" altLang="en-US" sz="1350">
                <a:solidFill>
                  <a:schemeClr val="bg1"/>
                </a:solidFill>
                <a:cs typeface="思源黑体 CN VF Light" panose="020B0200000000000000" charset="-122"/>
              </a:rPr>
              <a:t>本周进度</a:t>
            </a:r>
            <a:endParaRPr lang="zh-CN" altLang="en-US" sz="1350">
              <a:solidFill>
                <a:schemeClr val="bg1"/>
              </a:solidFill>
              <a:cs typeface="思源黑体 CN VF Light" panose="020B02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9505" y="944880"/>
            <a:ext cx="9720000" cy="30600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472440" y="4114165"/>
            <a:ext cx="539750" cy="14395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cs typeface="思源黑体 CN VF Light" panose="020B0200000000000000" charset="-122"/>
              </a:rPr>
              <a:t>下周计划</a:t>
            </a:r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9505" y="4119880"/>
            <a:ext cx="9720000" cy="14401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1350">
              <a:cs typeface="思源黑体 CN VF Light" panose="020B0200000000000000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472440" y="5699760"/>
            <a:ext cx="539750" cy="8737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eaVert" rtlCol="0" anchor="ctr"/>
          <a:p>
            <a:pPr algn="ctr"/>
            <a:r>
              <a:rPr lang="zh-CN" altLang="en-US" sz="1350">
                <a:solidFill>
                  <a:srgbClr val="FF0000"/>
                </a:solidFill>
                <a:cs typeface="思源黑体 CN VF Light" panose="020B0200000000000000" charset="-122"/>
              </a:rPr>
              <a:t>问题</a:t>
            </a:r>
            <a:endParaRPr lang="zh-CN" altLang="en-US" sz="1350">
              <a:solidFill>
                <a:srgbClr val="FF0000"/>
              </a:solidFill>
              <a:cs typeface="思源黑体 CN VF Light" panose="020B02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9505" y="5699125"/>
            <a:ext cx="9720000" cy="8661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cs typeface="思源黑体 CN VF Light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 3"/>
          <p:cNvSpPr/>
          <p:nvPr/>
        </p:nvSpPr>
        <p:spPr>
          <a:xfrm>
            <a:off x="-635" y="5193030"/>
            <a:ext cx="12192635" cy="1664335"/>
          </a:xfrm>
          <a:prstGeom prst="rect">
            <a:avLst/>
          </a:prstGeom>
          <a:solidFill>
            <a:srgbClr val="003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4" name="组合 14"/>
          <p:cNvGrpSpPr/>
          <p:nvPr/>
        </p:nvGrpSpPr>
        <p:grpSpPr>
          <a:xfrm>
            <a:off x="788035" y="4575810"/>
            <a:ext cx="1584960" cy="1585595"/>
            <a:chOff x="5730" y="4582"/>
            <a:chExt cx="2240" cy="2240"/>
          </a:xfrm>
        </p:grpSpPr>
        <p:sp>
          <p:nvSpPr>
            <p:cNvPr id="205" name="矩形 11"/>
            <p:cNvSpPr/>
            <p:nvPr/>
          </p:nvSpPr>
          <p:spPr>
            <a:xfrm>
              <a:off x="5730" y="4582"/>
              <a:ext cx="2241" cy="2241"/>
            </a:xfrm>
            <a:prstGeom prst="rect">
              <a:avLst/>
            </a:prstGeom>
            <a:solidFill>
              <a:schemeClr val="bg1"/>
            </a:solidFill>
            <a:ln w="12700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06" name="图片 9" descr="公众号二维码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72" y="4624"/>
              <a:ext cx="2158" cy="2158"/>
            </a:xfrm>
            <a:prstGeom prst="rect">
              <a:avLst/>
            </a:prstGeom>
          </p:spPr>
        </p:pic>
      </p:grpSp>
      <p:sp>
        <p:nvSpPr>
          <p:cNvPr id="207" name="文本占位符 5"/>
          <p:cNvSpPr>
            <a:spLocks noGrp="1"/>
          </p:cNvSpPr>
          <p:nvPr/>
        </p:nvSpPr>
        <p:spPr>
          <a:xfrm>
            <a:off x="787400" y="6240780"/>
            <a:ext cx="1586230" cy="316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扫码关注公众号</a:t>
            </a:r>
            <a:endParaRPr lang="zh-CN" altLang="en-US" sz="12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8" name="文本框 2"/>
          <p:cNvSpPr txBox="1"/>
          <p:nvPr/>
        </p:nvSpPr>
        <p:spPr>
          <a:xfrm>
            <a:off x="675005" y="1972310"/>
            <a:ext cx="9053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200" dirty="0">
                <a:solidFill>
                  <a:srgbClr val="003D95"/>
                </a:solidFill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期待与您携手共赢！</a:t>
            </a:r>
            <a:endParaRPr lang="zh-CN" altLang="en-US" sz="7200" dirty="0">
              <a:solidFill>
                <a:srgbClr val="003D95"/>
              </a:solidFill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cxnSp>
        <p:nvCxnSpPr>
          <p:cNvPr id="209" name="直接连接符 4"/>
          <p:cNvCxnSpPr/>
          <p:nvPr/>
        </p:nvCxnSpPr>
        <p:spPr>
          <a:xfrm>
            <a:off x="787400" y="3472180"/>
            <a:ext cx="568960" cy="0"/>
          </a:xfrm>
          <a:prstGeom prst="line">
            <a:avLst/>
          </a:prstGeom>
          <a:ln w="28575" cmpd="sng">
            <a:solidFill>
              <a:srgbClr val="DE0515"/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10" name="组合 1"/>
          <p:cNvGrpSpPr/>
          <p:nvPr/>
        </p:nvGrpSpPr>
        <p:grpSpPr>
          <a:xfrm>
            <a:off x="5202555" y="5410200"/>
            <a:ext cx="6028690" cy="1122045"/>
            <a:chOff x="7233" y="7957"/>
            <a:chExt cx="9494" cy="1767"/>
          </a:xfrm>
        </p:grpSpPr>
        <p:sp>
          <p:nvSpPr>
            <p:cNvPr id="211" name="文本占位符 5"/>
            <p:cNvSpPr>
              <a:spLocks noGrp="1"/>
            </p:cNvSpPr>
            <p:nvPr/>
          </p:nvSpPr>
          <p:spPr>
            <a:xfrm>
              <a:off x="7233" y="9274"/>
              <a:ext cx="9494" cy="45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Tx/>
                <a:buNone/>
                <a:defRPr sz="11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银行  |  保险  |  证券  |  基金  |  期货  |  政务  |  医疗  |  公安  |  制造  |  财税  |</a:t>
              </a:r>
              <a:r>
                <a:rPr lang="en-US" altLang="zh-CN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  </a:t>
              </a: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能源</a:t>
              </a:r>
              <a:r>
                <a:rPr lang="en-US" altLang="zh-CN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  |   </a:t>
              </a: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 </a:t>
              </a:r>
              <a:r>
                <a:rPr lang="en-US" altLang="zh-CN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……</a:t>
              </a:r>
              <a:endParaRPr lang="en-US" altLang="zh-CN" sz="12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212" name="文本占位符 5"/>
            <p:cNvSpPr>
              <a:spLocks noGrp="1"/>
            </p:cNvSpPr>
            <p:nvPr/>
          </p:nvSpPr>
          <p:spPr>
            <a:xfrm>
              <a:off x="7233" y="8632"/>
              <a:ext cx="9246" cy="53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Tx/>
                <a:buNone/>
                <a:defRPr sz="11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8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金智维提供一站式</a:t>
              </a:r>
              <a:r>
                <a:rPr lang="en-US" altLang="zh-CN" sz="18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AI</a:t>
              </a:r>
              <a:r>
                <a:rPr lang="zh-CN" altLang="en-US" sz="1800" dirty="0">
                  <a:solidFill>
                    <a:schemeClr val="bg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Bold" panose="020B0800000000000000" charset="-122"/>
                </a:rPr>
                <a:t>数字员工与企业级智能体解决方案</a:t>
              </a:r>
              <a:endParaRPr lang="zh-CN" altLang="en-US" sz="18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endParaRPr>
            </a:p>
          </p:txBody>
        </p:sp>
        <p:grpSp>
          <p:nvGrpSpPr>
            <p:cNvPr id="213" name="组合 7"/>
            <p:cNvGrpSpPr/>
            <p:nvPr/>
          </p:nvGrpSpPr>
          <p:grpSpPr>
            <a:xfrm>
              <a:off x="7382" y="7957"/>
              <a:ext cx="9219" cy="557"/>
              <a:chOff x="1142" y="7923"/>
              <a:chExt cx="9219" cy="557"/>
            </a:xfrm>
          </p:grpSpPr>
          <p:sp>
            <p:nvSpPr>
              <p:cNvPr id="214" name="文本占位符 5"/>
              <p:cNvSpPr>
                <a:spLocks noGrp="1"/>
              </p:cNvSpPr>
              <p:nvPr/>
            </p:nvSpPr>
            <p:spPr>
              <a:xfrm>
                <a:off x="1573" y="7941"/>
                <a:ext cx="3965" cy="43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r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Tx/>
                  <a:buNone/>
                  <a:defRPr sz="11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2000" dirty="0">
                    <a:solidFill>
                      <a:schemeClr val="bg1"/>
                    </a:solidFill>
                    <a:latin typeface="思源黑体 CN Regular" panose="020B0500000000000000" charset="-122"/>
                    <a:ea typeface="思源黑体 CN Regular" panose="020B0500000000000000" charset="-122"/>
                  </a:rPr>
                  <a:t>0756 333 7989</a:t>
                </a:r>
                <a:endParaRPr lang="zh-CN" altLang="en-US" sz="2000" dirty="0">
                  <a:solidFill>
                    <a:schemeClr val="bg1"/>
                  </a:solidFill>
                  <a:latin typeface="思源黑体 CN Regular" panose="020B0500000000000000" charset="-122"/>
                  <a:ea typeface="思源黑体 CN Regular" panose="020B0500000000000000" charset="-122"/>
                </a:endParaRPr>
              </a:p>
            </p:txBody>
          </p:sp>
          <p:sp>
            <p:nvSpPr>
              <p:cNvPr id="215" name="文本占位符 5"/>
              <p:cNvSpPr>
                <a:spLocks noGrp="1"/>
              </p:cNvSpPr>
              <p:nvPr/>
            </p:nvSpPr>
            <p:spPr>
              <a:xfrm>
                <a:off x="6396" y="7923"/>
                <a:ext cx="3965" cy="44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0" indent="0" algn="r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Tx/>
                  <a:buNone/>
                  <a:defRPr sz="11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2000" dirty="0">
                    <a:solidFill>
                      <a:schemeClr val="bg1"/>
                    </a:solidFill>
                    <a:latin typeface="思源黑体 CN Regular" panose="020B0500000000000000" charset="-122"/>
                    <a:ea typeface="思源黑体 CN Regular" panose="020B0500000000000000" charset="-122"/>
                  </a:rPr>
                  <a:t>www.kingsware.cn</a:t>
                </a:r>
                <a:endParaRPr lang="zh-CN" altLang="en-US" sz="2000" dirty="0">
                  <a:solidFill>
                    <a:schemeClr val="bg1"/>
                  </a:solidFill>
                  <a:latin typeface="思源黑体 CN Regular" panose="020B0500000000000000" charset="-122"/>
                  <a:ea typeface="思源黑体 CN Regular" panose="020B0500000000000000" charset="-122"/>
                </a:endParaRPr>
              </a:p>
            </p:txBody>
          </p:sp>
          <p:pic>
            <p:nvPicPr>
              <p:cNvPr id="216" name="图片 46" descr="网站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952" y="8015"/>
                <a:ext cx="444" cy="444"/>
              </a:xfrm>
              <a:prstGeom prst="rect">
                <a:avLst/>
              </a:prstGeom>
            </p:spPr>
          </p:pic>
          <p:pic>
            <p:nvPicPr>
              <p:cNvPr id="217" name="图片 48" descr="电话 (1)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42" y="7994"/>
                <a:ext cx="486" cy="486"/>
              </a:xfrm>
              <a:prstGeom prst="rect">
                <a:avLst/>
              </a:prstGeom>
            </p:spPr>
          </p:pic>
        </p:grpSp>
      </p:grpSp>
      <p:pic>
        <p:nvPicPr>
          <p:cNvPr id="218" name="图片 5" descr="新版logo_复制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24535" y="447675"/>
            <a:ext cx="1706245" cy="438150"/>
          </a:xfrm>
          <a:prstGeom prst="rect">
            <a:avLst/>
          </a:prstGeom>
        </p:spPr>
      </p:pic>
      <p:grpSp>
        <p:nvGrpSpPr>
          <p:cNvPr id="219" name="组合 21"/>
          <p:cNvGrpSpPr/>
          <p:nvPr/>
        </p:nvGrpSpPr>
        <p:grpSpPr>
          <a:xfrm>
            <a:off x="2792270" y="4575872"/>
            <a:ext cx="1785260" cy="1981909"/>
            <a:chOff x="1137" y="4988"/>
            <a:chExt cx="2315" cy="2570"/>
          </a:xfrm>
        </p:grpSpPr>
        <p:sp>
          <p:nvSpPr>
            <p:cNvPr id="220" name="矩形 22"/>
            <p:cNvSpPr/>
            <p:nvPr/>
          </p:nvSpPr>
          <p:spPr>
            <a:xfrm>
              <a:off x="1202" y="4988"/>
              <a:ext cx="2056" cy="2057"/>
            </a:xfrm>
            <a:prstGeom prst="rect">
              <a:avLst/>
            </a:prstGeom>
            <a:solidFill>
              <a:schemeClr val="bg1"/>
            </a:solidFill>
            <a:ln w="12700" cmpd="sng">
              <a:solidFill>
                <a:schemeClr val="accent1">
                  <a:lumMod val="20000"/>
                  <a:lumOff val="8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文本占位符 5"/>
            <p:cNvSpPr>
              <a:spLocks noGrp="1"/>
            </p:cNvSpPr>
            <p:nvPr/>
          </p:nvSpPr>
          <p:spPr>
            <a:xfrm>
              <a:off x="1137" y="7147"/>
              <a:ext cx="2315" cy="411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Tx/>
                <a:buNone/>
                <a:defRPr sz="11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扫码查看更多产品</a:t>
              </a:r>
              <a:endParaRPr lang="zh-CN" altLang="en-US" sz="12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pic>
        <p:nvPicPr>
          <p:cNvPr id="222" name="图片 24"/>
          <p:cNvPicPr/>
          <p:nvPr/>
        </p:nvPicPr>
        <p:blipFill>
          <a:blip r:embed="rId7"/>
          <a:stretch>
            <a:fillRect/>
          </a:stretch>
        </p:blipFill>
        <p:spPr>
          <a:xfrm>
            <a:off x="2914015" y="4657090"/>
            <a:ext cx="1447165" cy="14471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ISLIDE.TEMPLATE" val="https://www.islide.cc;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0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1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2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15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8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19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0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3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4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5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8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29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30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33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36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39.xml><?xml version="1.0" encoding="utf-8"?>
<p:tagLst xmlns:p="http://schemas.openxmlformats.org/presentationml/2006/main">
  <p:tag name="KSO_WM_DIAGRAM_VIRTUALLY_FRAME" val="{&quot;height&quot;:457.05,&quot;left&quot;:37.2,&quot;top&quot;:74.4,&quot;width&quot;:871.2}"/>
</p:tagLst>
</file>

<file path=ppt/tags/tag140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1.xml><?xml version="1.0" encoding="utf-8"?>
<p:tagLst xmlns:p="http://schemas.openxmlformats.org/presentationml/2006/main">
  <p:tag name="KSO_WM_DIAGRAM_VIRTUALLY_FRAME" val="{&quot;height&quot;:457.05,&quot;left&quot;:37.2,&quot;top&quot;:74.4,&quot;width&quot;:871.2}"/>
</p:tagLst>
</file>

<file path=ppt/tags/tag142.xml><?xml version="1.0" encoding="utf-8"?>
<p:tagLst xmlns:p="http://schemas.openxmlformats.org/presentationml/2006/main">
  <p:tag name="KSO_WM_DIAGRAM_VIRTUALLY_FRAME" val="{&quot;height&quot;:457.05,&quot;left&quot;:37.2,&quot;top&quot;:74.4,&quot;width&quot;:871.2}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5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6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7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8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51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52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53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54.xml><?xml version="1.0" encoding="utf-8"?>
<p:tagLst xmlns:p="http://schemas.openxmlformats.org/presentationml/2006/main">
  <p:tag name="KSO_WM_DIAGRAM_VIRTUALLY_FRAME" val="{&quot;height&quot;:445,&quot;left&quot;:37.2,&quot;top&quot;:74.4,&quot;width&quot;:565.95}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57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60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63.xml><?xml version="1.0" encoding="utf-8"?>
<p:tagLst xmlns:p="http://schemas.openxmlformats.org/presentationml/2006/main">
  <p:tag name="KSO_WM_DIAGRAM_VIRTUALLY_FRAME" val="{&quot;height&quot;:193.65,&quot;left&quot;:37.2,&quot;top&quot;:323.95,&quot;width&quot;:816.3}"/>
</p:tagLst>
</file>

<file path=ppt/tags/tag164.xml><?xml version="1.0" encoding="utf-8"?>
<p:tagLst xmlns:p="http://schemas.openxmlformats.org/presentationml/2006/main">
  <p:tag name="ISLIDE.SHOWCASE" val="979c253d-f787-4b2c-a52d-456954c976c8"/>
  <p:tag name="ISLIDE.TEMPLATE" val="#308194"/>
  <p:tag name="commondata" val="eyJoZGlkIjoiYWViY2Y0ZmE0OTY5NTQ1ODhjNGYxNzNkYTJiMzQxZDUifQ=="/>
  <p:tag name="resource_record_key" val="{&quot;70&quot;:[3333429]}"/>
</p:tagLst>
</file>

<file path=ppt/theme/theme1.xml><?xml version="1.0" encoding="utf-8"?>
<a:theme xmlns:a="http://schemas.openxmlformats.org/drawingml/2006/main" name="2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0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2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思源黑体 CN VF Light"/>
        <a:ea typeface="思源黑体 CN VF Light"/>
        <a:cs typeface=""/>
      </a:majorFont>
      <a:minorFont>
        <a:latin typeface="思源黑体 CN VF Light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思源黑体 CN VF Light"/>
        <a:ea typeface="思源黑体 CN VF Light"/>
        <a:cs typeface=""/>
      </a:majorFont>
      <a:minorFont>
        <a:latin typeface="思源黑体 CN VF Light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思源黑体 CN VF Light"/>
        <a:ea typeface="思源黑体 CN VF Light"/>
        <a:cs typeface=""/>
      </a:majorFont>
      <a:minorFont>
        <a:latin typeface="思源黑体 CN VF Light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思源黑体 CN VF Light"/>
        <a:ea typeface="思源黑体 CN VF Light"/>
        <a:cs typeface=""/>
      </a:majorFont>
      <a:minorFont>
        <a:latin typeface="思源黑体 CN VF Light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思源黑体 CN VF Light"/>
        <a:cs typeface=""/>
      </a:majorFont>
      <a:minorFont>
        <a:latin typeface="Arial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主题5">
  <a:themeElements>
    <a:clrScheme name="自定义 2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F4ADA"/>
      </a:accent1>
      <a:accent2>
        <a:srgbClr val="063385"/>
      </a:accent2>
      <a:accent3>
        <a:srgbClr val="0AA6FF"/>
      </a:accent3>
      <a:accent4>
        <a:srgbClr val="475059"/>
      </a:accent4>
      <a:accent5>
        <a:srgbClr val="828E97"/>
      </a:accent5>
      <a:accent6>
        <a:srgbClr val="525252"/>
      </a:accent6>
      <a:hlink>
        <a:srgbClr val="4276AA"/>
      </a:hlink>
      <a:folHlink>
        <a:srgbClr val="BFBFBF"/>
      </a:folHlink>
    </a:clrScheme>
    <a:fontScheme name="Temp">
      <a:majorFont>
        <a:latin typeface="思源黑体 CN VF Light"/>
        <a:ea typeface="思源黑体 CN VF Light"/>
        <a:cs typeface=""/>
      </a:majorFont>
      <a:minorFont>
        <a:latin typeface="思源黑体 CN VF Light"/>
        <a:ea typeface="思源黑体 CN VF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F4ADA"/>
    </a:accent1>
    <a:accent2>
      <a:srgbClr val="063385"/>
    </a:accent2>
    <a:accent3>
      <a:srgbClr val="FF4F6C"/>
    </a:accent3>
    <a:accent4>
      <a:srgbClr val="475059"/>
    </a:accent4>
    <a:accent5>
      <a:srgbClr val="828E97"/>
    </a:accent5>
    <a:accent6>
      <a:srgbClr val="525252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576</Words>
  <Application>WPS 演示</Application>
  <PresentationFormat>宽屏</PresentationFormat>
  <Paragraphs>130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17</vt:i4>
      </vt:variant>
    </vt:vector>
  </HeadingPairs>
  <TitlesOfParts>
    <vt:vector size="45" baseType="lpstr">
      <vt:lpstr>Arial</vt:lpstr>
      <vt:lpstr>宋体</vt:lpstr>
      <vt:lpstr>Wingdings</vt:lpstr>
      <vt:lpstr>思源黑体 CN Regular</vt:lpstr>
      <vt:lpstr>黑体</vt:lpstr>
      <vt:lpstr>思源黑体 CN Heavy</vt:lpstr>
      <vt:lpstr>思源黑体 CN Bold</vt:lpstr>
      <vt:lpstr>思源黑体 CN VF Light</vt:lpstr>
      <vt:lpstr>思源黑体 CN Normal</vt:lpstr>
      <vt:lpstr>KSOF28C8607A</vt:lpstr>
      <vt:lpstr>Segoe Print</vt:lpstr>
      <vt:lpstr>微软雅黑</vt:lpstr>
      <vt:lpstr>Arial Unicode MS</vt:lpstr>
      <vt:lpstr>Calibri</vt:lpstr>
      <vt:lpstr>KSOFD72470BC</vt:lpstr>
      <vt:lpstr>2_主题5</vt:lpstr>
      <vt:lpstr>9_主题5</vt:lpstr>
      <vt:lpstr>6_主题5</vt:lpstr>
      <vt:lpstr>10_主题5</vt:lpstr>
      <vt:lpstr>11_主题5</vt:lpstr>
      <vt:lpstr>12_主题5</vt:lpstr>
      <vt:lpstr>3_主题5</vt:lpstr>
      <vt:lpstr>4_主题5</vt:lpstr>
      <vt:lpstr>5_主题5</vt:lpstr>
      <vt:lpstr>7_主题5</vt:lpstr>
      <vt:lpstr>8_主题5</vt:lpstr>
      <vt:lpstr>1_主题5</vt:lpstr>
      <vt:lpstr>13_主题5</vt:lpstr>
      <vt:lpstr>部门项目周报</vt:lpstr>
      <vt:lpstr>在建项目整体情况</vt:lpstr>
      <vt:lpstr>本周jira情况</vt:lpstr>
      <vt:lpstr>物业商机智能体（汇报人：周佳宇）</vt:lpstr>
      <vt:lpstr>咖啡指数（汇报人：郑乐园）</vt:lpstr>
      <vt:lpstr>金智维K-Loghub：日志平台（汇报人：李礼辛）</vt:lpstr>
      <vt:lpstr>国信指标平台（汇报人：窦欢欢）</vt:lpstr>
      <vt:lpstr>墨巡MiciusOps智能运维平台（汇报人：刘昕）</vt:lpstr>
      <vt:lpstr>智能体（汇报人：官浩杰）</vt:lpstr>
      <vt:lpstr>数据大脑（汇报人：官浩杰）</vt:lpstr>
      <vt:lpstr>混沌测试（汇报人：王璐）</vt:lpstr>
      <vt:lpstr>混沌测试（汇报人：王璐）</vt:lpstr>
      <vt:lpstr>南京银行（汇报人：王璐）</vt:lpstr>
      <vt:lpstr>应急演练指挥调度平台（汇报人：郑乐园）</vt:lpstr>
      <vt:lpstr>中信证券：应急指挥调度平台二期（汇报人：郑乐园）</vt:lpstr>
      <vt:lpstr>绿证、自主交易（汇报人：郑乐园）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佛系</cp:lastModifiedBy>
  <cp:revision>1058</cp:revision>
  <cp:lastPrinted>2026-07-04T06:29:00Z</cp:lastPrinted>
  <dcterms:created xsi:type="dcterms:W3CDTF">2026-07-04T06:29:00Z</dcterms:created>
  <dcterms:modified xsi:type="dcterms:W3CDTF">2026-08-07T14:17:57Z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A7392DBC14D94C1EAC0ED588D09080AF_13</vt:lpwstr>
  </property>
  <property fmtid="{D5CDD505-2E9C-101B-9397-08002B2CF9AE}" pid="4" name="KSOProductBuildVer">
    <vt:lpwstr>2052-12.1.0.28043</vt:lpwstr>
  </property>
</Properties>
</file>